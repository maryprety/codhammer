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0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89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CodHammer: Платформа для геймификации студенческой активности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разработали MVP и запустим пилот в трёх московских вузах. Партнёрство с Битвой Роботов обеспечивает эксклюзивный мерч.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1896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99917"/>
            <a:ext cx="820852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Цели роста на ближайшие 12 месяцев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93790" y="4886682"/>
            <a:ext cx="6436400" cy="995243"/>
          </a:xfrm>
          <a:prstGeom prst="roundRect">
            <a:avLst>
              <a:gd name="adj" fmla="val 7179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1431" y="50643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Рост выручки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71431" y="5432107"/>
            <a:ext cx="608111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Достичь 700 000 рублей в месяц к концу года.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0211" y="4886682"/>
            <a:ext cx="6436400" cy="995243"/>
          </a:xfrm>
          <a:prstGeom prst="roundRect">
            <a:avLst>
              <a:gd name="adj" fmla="val 7179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77852" y="5064323"/>
            <a:ext cx="254365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аудитории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852" y="5432107"/>
            <a:ext cx="608111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Привлечь более 3 000 активных студентов и сотрудничать с 10 вузами.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3790" y="6051947"/>
            <a:ext cx="6436400" cy="1267420"/>
          </a:xfrm>
          <a:prstGeom prst="roundRect">
            <a:avLst>
              <a:gd name="adj" fmla="val 5637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1431" y="6229588"/>
            <a:ext cx="256496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Региональное развитие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71431" y="6597372"/>
            <a:ext cx="608111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Запустить пилоты в двух новых регионах России.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0211" y="6051947"/>
            <a:ext cx="6436400" cy="1267420"/>
          </a:xfrm>
          <a:prstGeom prst="roundRect">
            <a:avLst>
              <a:gd name="adj" fmla="val 5637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7852" y="622958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Новые функции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77852" y="6597372"/>
            <a:ext cx="608111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Внедрить аналитику, расширить систему баллов и интеграцию с внешними сервисами.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846"/>
            <a:ext cx="623292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Стратегия роста: ключевые шаги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356717"/>
            <a:ext cx="1977152" cy="1977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51805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Рекламные табло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3790" y="3836789"/>
            <a:ext cx="422481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Активное продвижение в вузах в сентябре, октябре и марте.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793" y="1356717"/>
            <a:ext cx="1977152" cy="1977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2793" y="351805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Онлайн-акции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202793" y="3836789"/>
            <a:ext cx="422481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Коллаборации с IT-компаниями для привлечения студентов.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797" y="1356717"/>
            <a:ext cx="1977152" cy="19771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11797" y="351805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Партнёрская сеть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611797" y="3836789"/>
            <a:ext cx="422481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Развитие сотрудничества с поставщиками мерча и организаторами мероприятий.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03075"/>
            <a:ext cx="1977152" cy="19771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676441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Улучшение UX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793790" y="7083147"/>
            <a:ext cx="422481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Добавление новых игровых механик и сбор обратной связи от вузов.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5138"/>
            <a:ext cx="97078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Необходимые ресурсы для роста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005" y="2267545"/>
            <a:ext cx="2994184" cy="299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7186" y="5545217"/>
            <a:ext cx="31517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Финансовые ресурсы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0356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Зарплаты, реклама, серверы, логистика мерча и операционные расходы.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108" y="2267545"/>
            <a:ext cx="2994184" cy="29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25227" y="5545217"/>
            <a:ext cx="33799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Человеческие ресурсы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0356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Разработчики, маркетолог, операционный менеджер и служба поддержки.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211" y="2267545"/>
            <a:ext cx="2994184" cy="29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39626" y="5545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0356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Облачные серверы, аналитика и интеграция с университетскими системами.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8276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62463"/>
            <a:ext cx="922686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риски и их минимизация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42228"/>
            <a:ext cx="510302" cy="5103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165" y="5527715"/>
            <a:ext cx="235493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Слабый отклик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508165" y="5968960"/>
            <a:ext cx="2354937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и корректировка игровых механик по обратной связи.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253" y="5442228"/>
            <a:ext cx="510302" cy="5103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32628" y="5527715"/>
            <a:ext cx="235493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Недостаток партнёров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4832628" y="6287810"/>
            <a:ext cx="2354937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Активный поиск и гибкие условия сотрудничества.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2716" y="5442228"/>
            <a:ext cx="510302" cy="5103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57091" y="5527715"/>
            <a:ext cx="235493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Технические сбои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8157091" y="6287810"/>
            <a:ext cx="2354937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Резервное копирование и SLA с провайдерами.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7179" y="5442228"/>
            <a:ext cx="510302" cy="5103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81554" y="5527715"/>
            <a:ext cx="2355056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Перегрузка команды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1481554" y="6287810"/>
            <a:ext cx="2355056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Чёткое распределение обязанностей и аутсорсинг непрофильных задач.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6618" y="621863"/>
            <a:ext cx="7563564" cy="134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Финансовый план: ключевые показатели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76618" y="2284214"/>
            <a:ext cx="7563564" cy="4395788"/>
          </a:xfrm>
          <a:prstGeom prst="roundRect">
            <a:avLst>
              <a:gd name="adj" fmla="val 204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4238" y="2291834"/>
            <a:ext cx="7547491" cy="9589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99503" y="2428042"/>
            <a:ext cx="20828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Доход (руб.)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018865" y="2428042"/>
            <a:ext cx="207906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 (1-й месяц)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534418" y="2428042"/>
            <a:ext cx="2082879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700 000 (6-й месяц)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84238" y="3250763"/>
            <a:ext cx="7547491" cy="6156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99503" y="3386971"/>
            <a:ext cx="20828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Зарплата команды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018865" y="3386971"/>
            <a:ext cx="459843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320 000 в месяц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84238" y="3866436"/>
            <a:ext cx="7547491" cy="9589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99503" y="4002643"/>
            <a:ext cx="2082879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Реклама (аренда табло)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018865" y="4002643"/>
            <a:ext cx="459843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300 000 в активные месяцы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284238" y="4825365"/>
            <a:ext cx="7547491" cy="6156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99503" y="4961573"/>
            <a:ext cx="20828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018865" y="4961573"/>
            <a:ext cx="459843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 в месяц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284238" y="5441037"/>
            <a:ext cx="7547491" cy="6156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499503" y="5577245"/>
            <a:ext cx="20828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Логистика мерча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018865" y="5577245"/>
            <a:ext cx="459843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 в месяц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6284238" y="6056709"/>
            <a:ext cx="7547491" cy="6156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499503" y="6192917"/>
            <a:ext cx="20828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Прочие расходы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9018865" y="6192917"/>
            <a:ext cx="459843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 в месяц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6276618" y="6921222"/>
            <a:ext cx="7563564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Планируем выйти на самоокупаемость к шестому месяцу. Дефицит покрывается инвестициями.</a:t>
            </a:r>
            <a:endParaRPr lang="en-US" sz="16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9383" y="612458"/>
            <a:ext cx="7585234" cy="132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Оценка стоимости компании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83" y="2251829"/>
            <a:ext cx="1057751" cy="12693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436" y="2463284"/>
            <a:ext cx="264449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Метод оценки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154436" y="2920722"/>
            <a:ext cx="621018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 мультипликатор EBITDA.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83" y="3521154"/>
            <a:ext cx="1057751" cy="12693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436" y="3732609"/>
            <a:ext cx="264449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Прогноз EBITDA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154436" y="4190048"/>
            <a:ext cx="621018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 млн рублей через год.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83" y="4790480"/>
            <a:ext cx="1057751" cy="12693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436" y="5001935"/>
            <a:ext cx="264449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Мультипликатор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154436" y="5459373"/>
            <a:ext cx="621018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Применён коэффициент 5, средний для EdTech.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383" y="6059805"/>
            <a:ext cx="1057751" cy="15573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436" y="6271260"/>
            <a:ext cx="264449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Итоговая оценка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2154436" y="6728698"/>
            <a:ext cx="621018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7,5 млн рублей — основа для инвестиционного предложения.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88802"/>
            <a:ext cx="72619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Итоги и следующие шаги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37742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172176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Готовность к масштабированию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016925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CodHammer готов выйти на новые рынки с чёткой стратегией.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1937742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172176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Прозрачность и управляемость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016925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Финансовый план обеспечивает контроль и прогнозируемость.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566880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4801314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Инвестиционная привлекательность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6460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стоимости подтверждает потенциал проекта.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4566880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86680" y="4801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Поиск инвестора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06301" y="5291733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Следующий шаг — подготовка инвестиционного оффера и привлечение финансирования.</a:t>
            </a:r>
            <a:endParaRPr lang="en-US" sz="17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A6D9856-EEB0-E9FF-5662-8BFBCC37EC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3143" r="30664"/>
          <a:stretch/>
        </p:blipFill>
        <p:spPr>
          <a:xfrm>
            <a:off x="-1" y="857"/>
            <a:ext cx="5932967" cy="8287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375</Words>
  <Application>Microsoft Office PowerPoint</Application>
  <PresentationFormat>Произвольный</PresentationFormat>
  <Paragraphs>77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vasil</cp:lastModifiedBy>
  <cp:revision>2</cp:revision>
  <dcterms:created xsi:type="dcterms:W3CDTF">2025-05-12T21:22:00Z</dcterms:created>
  <dcterms:modified xsi:type="dcterms:W3CDTF">2025-05-12T21:25:49Z</dcterms:modified>
</cp:coreProperties>
</file>