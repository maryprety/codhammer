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BM Plex Sans Medium" panose="020B0603050203000203" pitchFamily="34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897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mari.vas.04@mail.ru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t.me/EvgenDssa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.me/MaryPrety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t.me/Linia12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t.me/desperado122" TargetMode="Externa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B60AEB8-DC6C-086A-F7FB-E54E2A800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24" y="638707"/>
            <a:ext cx="2895238" cy="2895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467207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CodHammer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437" y="2609017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CodHammer — это инновационная платформа, призванная геймифицировать студенческую активность и интегрировать ставки на битвы роботов. 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4071818"/>
            <a:ext cx="7415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Дмитрий Енин (</a:t>
            </a:r>
            <a:r>
              <a:rPr lang="en-US" sz="1550" u="sng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@desperado122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— Project-менеджер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50437" y="4665464"/>
            <a:ext cx="7415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Денис Шипунов (</a:t>
            </a:r>
            <a:r>
              <a:rPr lang="en-US" sz="1550" u="sng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@Linia12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— Backend-разработчик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50437" y="5259110"/>
            <a:ext cx="7415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Мария Васильченко (</a:t>
            </a:r>
            <a:r>
              <a:rPr lang="en-US" sz="1550" u="sng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@MaryPrety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— UX/UI и low-code frontend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50437" y="5852755"/>
            <a:ext cx="7415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Евгений Зыбин (</a:t>
            </a:r>
            <a:r>
              <a:rPr lang="en-US" sz="1550" u="sng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@EvgenDssar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— DevOps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350437" y="6446401"/>
            <a:ext cx="741592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Email: </a:t>
            </a:r>
            <a:r>
              <a:rPr lang="en-US" sz="1550" u="sng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mari.vas.04@mail.ru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Телефон: +7 (985) 905-25-55</a:t>
            </a:r>
            <a:endParaRPr lang="en-US" sz="15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BA2BC24-AA0B-BBF8-DC5D-C7D6EED72E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4747" y="5547371"/>
            <a:ext cx="2073897" cy="207389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4FE28C-4438-3A3C-ADF0-7AC2FB259B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65" y="3924430"/>
            <a:ext cx="2487797" cy="248779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05A4986-5BBE-0620-D8E0-2A411DC672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0177" y="2402426"/>
            <a:ext cx="2263038" cy="226303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3332083"/>
            <a:ext cx="10048994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Низкая Вовлеченность Студентов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864037" y="4720709"/>
            <a:ext cx="338185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Низкая вовлеченность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4037" y="5353288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Студенты, часто недостаточно вовлечены во внеучебную деятельность. Университеты недостаточно отслеживает активности.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72695" y="4720709"/>
            <a:ext cx="336292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Отсутствие мотивации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372695" y="5353288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московских университетах отсутствует единая цифровая система мотивации студентов.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881354" y="4720709"/>
            <a:ext cx="32327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Слабый рынок ставок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881354" y="5353288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Букмекеры не предлагают ставки на битвы роботов, несмотря на рост популярности таких турниров. </a:t>
            </a:r>
            <a:endParaRPr lang="en-US" sz="19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778" y="704255"/>
            <a:ext cx="5379482" cy="623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Портрет пользователя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923330" y="1627584"/>
            <a:ext cx="22860" cy="4974431"/>
          </a:xfrm>
          <a:prstGeom prst="roundRect">
            <a:avLst>
              <a:gd name="adj" fmla="val 131006"/>
            </a:avLst>
          </a:prstGeom>
          <a:solidFill>
            <a:srgbClr val="61646A"/>
          </a:solidFill>
          <a:ln/>
        </p:spPr>
      </p:sp>
      <p:sp>
        <p:nvSpPr>
          <p:cNvPr id="5" name="Shape 2"/>
          <p:cNvSpPr/>
          <p:nvPr/>
        </p:nvSpPr>
        <p:spPr>
          <a:xfrm>
            <a:off x="698778" y="1852136"/>
            <a:ext cx="449104" cy="449104"/>
          </a:xfrm>
          <a:prstGeom prst="roundRect">
            <a:avLst>
              <a:gd name="adj" fmla="val 6668"/>
            </a:avLst>
          </a:prstGeom>
          <a:solidFill>
            <a:srgbClr val="AEE4BD"/>
          </a:solidFill>
          <a:ln/>
        </p:spPr>
      </p:sp>
      <p:sp>
        <p:nvSpPr>
          <p:cNvPr id="6" name="Text 3"/>
          <p:cNvSpPr/>
          <p:nvPr/>
        </p:nvSpPr>
        <p:spPr>
          <a:xfrm>
            <a:off x="1547217" y="1827133"/>
            <a:ext cx="689800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Возраст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47217" y="2266355"/>
            <a:ext cx="6898005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18-25 лет.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98778" y="3145631"/>
            <a:ext cx="449104" cy="449104"/>
          </a:xfrm>
          <a:prstGeom prst="roundRect">
            <a:avLst>
              <a:gd name="adj" fmla="val 6668"/>
            </a:avLst>
          </a:prstGeom>
          <a:solidFill>
            <a:srgbClr val="AEE4BD"/>
          </a:solidFill>
          <a:ln/>
        </p:spPr>
      </p:sp>
      <p:sp>
        <p:nvSpPr>
          <p:cNvPr id="9" name="Text 6"/>
          <p:cNvSpPr/>
          <p:nvPr/>
        </p:nvSpPr>
        <p:spPr>
          <a:xfrm>
            <a:off x="1547217" y="3120628"/>
            <a:ext cx="689800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Специальности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47217" y="3559850"/>
            <a:ext cx="6898005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робототехника, инженерия.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98778" y="4439126"/>
            <a:ext cx="449104" cy="449104"/>
          </a:xfrm>
          <a:prstGeom prst="roundRect">
            <a:avLst>
              <a:gd name="adj" fmla="val 6668"/>
            </a:avLst>
          </a:prstGeom>
          <a:solidFill>
            <a:srgbClr val="AEE4BD"/>
          </a:solidFill>
          <a:ln/>
        </p:spPr>
      </p:sp>
      <p:sp>
        <p:nvSpPr>
          <p:cNvPr id="12" name="Text 9"/>
          <p:cNvSpPr/>
          <p:nvPr/>
        </p:nvSpPr>
        <p:spPr>
          <a:xfrm>
            <a:off x="1547217" y="4414123"/>
            <a:ext cx="689800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Интересы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547217" y="4853345"/>
            <a:ext cx="6898005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Технологии, киберспорт, инновации.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98778" y="5732621"/>
            <a:ext cx="449104" cy="449104"/>
          </a:xfrm>
          <a:prstGeom prst="roundRect">
            <a:avLst>
              <a:gd name="adj" fmla="val 6668"/>
            </a:avLst>
          </a:prstGeom>
          <a:solidFill>
            <a:srgbClr val="AEE4BD"/>
          </a:solidFill>
          <a:ln/>
        </p:spPr>
      </p:sp>
      <p:sp>
        <p:nvSpPr>
          <p:cNvPr id="15" name="Text 12"/>
          <p:cNvSpPr/>
          <p:nvPr/>
        </p:nvSpPr>
        <p:spPr>
          <a:xfrm>
            <a:off x="1547217" y="5707618"/>
            <a:ext cx="689800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Проблемы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547217" y="6146840"/>
            <a:ext cx="6898005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Недостаток мотивации для участия во внеучебных мероприятиях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98778" y="6901458"/>
            <a:ext cx="7746444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CodHammer предлагает им уникальные инструменты для самореализации и получения признания за свои достижения.</a:t>
            </a:r>
            <a:endParaRPr lang="en-US" sz="195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949FC9D-4326-86CC-153E-D18BF4557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58" r="26657"/>
          <a:stretch/>
        </p:blipFill>
        <p:spPr>
          <a:xfrm>
            <a:off x="8978325" y="13570"/>
            <a:ext cx="5652075" cy="819812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564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Бизнес-модель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605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582944"/>
            <a:ext cx="340162" cy="34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460546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Партнёрская реклама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305294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Рекламы от компаний, ориентированных на студенческую аудиторию 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4605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9" name="Text 6"/>
          <p:cNvSpPr/>
          <p:nvPr/>
        </p:nvSpPr>
        <p:spPr>
          <a:xfrm>
            <a:off x="4770537" y="2582944"/>
            <a:ext cx="340162" cy="34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460546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Спонсорство мероприятий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305294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Поддержка и маркетинг студенческих мероприятий с привлечением спонсоров.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2388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5342335"/>
            <a:ext cx="340162" cy="419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2388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Продажа мерча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72928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Брендированная продукция, связанная с университетом и битвами роботов.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67102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716756"/>
            <a:ext cx="5247918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Underlying Magic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6" y="1687592"/>
            <a:ext cx="3865721" cy="38657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616" y="5815608"/>
            <a:ext cx="4017883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Геймифицированная аналитика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4616" y="6269474"/>
            <a:ext cx="4177189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Игровыми механиками, повышающими вовлечённость.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606" y="1687592"/>
            <a:ext cx="3865721" cy="38657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606" y="5815608"/>
            <a:ext cx="371498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Уникальный алгоритм ставок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5226606" y="6269474"/>
            <a:ext cx="417718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Статистики предыдущих боёв.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596" y="1687592"/>
            <a:ext cx="3865721" cy="38657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8596" y="5815608"/>
            <a:ext cx="3813810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Интеграция с университетами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718596" y="6269474"/>
            <a:ext cx="4177189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Легкая интеграция с системами обучением 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34616" y="7177088"/>
            <a:ext cx="131611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5375" y="1345883"/>
            <a:ext cx="72942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Маркетинг и продвижение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979193" y="303167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AEE4BD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3" y="3074184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16309" y="303167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Партнёрства с вузами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79193" y="3865347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платформы в экосистему университетов.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870870" y="303167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AEE4BD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940" y="3074184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07986" y="3031679"/>
            <a:ext cx="2835235" cy="64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Коллаборации</a:t>
            </a: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c  </a:t>
            </a:r>
            <a:endParaRPr lang="ru-RU" sz="2200" dirty="0">
              <a:solidFill>
                <a:srgbClr val="D4D4D1"/>
              </a:solidFill>
              <a:latin typeface="IBM Plex Sans Medium" pitchFamily="34" charset="0"/>
              <a:ea typeface="IBM Plex Sans Medium" pitchFamily="34" charset="-122"/>
              <a:cs typeface="IBM Plex Sans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битвами роботов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892604" y="3859237"/>
            <a:ext cx="35797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Совместные мероприятия и продвижение </a:t>
            </a:r>
            <a:r>
              <a:rPr lang="en-US" sz="17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через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каналы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2515170" y="5544586"/>
            <a:ext cx="35724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Таргетированная реклама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57608" y="618552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официальных каналов МИРЭА в Telegram и ВКонтакте.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915976" y="67341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B0E397F-469F-A220-9E0A-804EDC595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4" r="9042" b="6071"/>
          <a:stretch/>
        </p:blipFill>
        <p:spPr bwMode="auto">
          <a:xfrm>
            <a:off x="9370815" y="0"/>
            <a:ext cx="5269583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17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1743"/>
          </a:xfrm>
          <a:prstGeom prst="rect">
            <a:avLst/>
          </a:prstGeom>
          <a:solidFill>
            <a:srgbClr val="1F1F1E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0561" y="534710"/>
            <a:ext cx="4861203" cy="607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AEE4BD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Анализ Конкурентов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80561" y="1433870"/>
            <a:ext cx="13269277" cy="6263164"/>
          </a:xfrm>
          <a:prstGeom prst="roundRect">
            <a:avLst>
              <a:gd name="adj" fmla="val 46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8181" y="1441490"/>
            <a:ext cx="13254038" cy="10258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82848" y="1565672"/>
            <a:ext cx="227004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Платформа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549372" y="1565672"/>
            <a:ext cx="2238375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Функция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184225" y="1565672"/>
            <a:ext cx="1830110" cy="77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Схожие элементы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410813" y="1565672"/>
            <a:ext cx="1913692" cy="77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Сильные стороны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720983" y="1565672"/>
            <a:ext cx="3026807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Слабые стороны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88181" y="2467332"/>
            <a:ext cx="13254038" cy="8703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82848" y="2591514"/>
            <a:ext cx="227004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DiaClass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549372" y="2591514"/>
            <a:ext cx="223837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Геймификация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84225" y="2591514"/>
            <a:ext cx="1830110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Награждение баллами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10813" y="2591514"/>
            <a:ext cx="1913692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Увлекательный подход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720983" y="2591514"/>
            <a:ext cx="302680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специализации на ИТ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8181" y="3337679"/>
            <a:ext cx="13254038" cy="8703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82848" y="3461861"/>
            <a:ext cx="227004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SmartKlass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3549372" y="3461861"/>
            <a:ext cx="223837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Аналитика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184225" y="3461861"/>
            <a:ext cx="1830110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Мониторинг успеваемости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410813" y="3461861"/>
            <a:ext cx="1913692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с Moodle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720983" y="3461861"/>
            <a:ext cx="302680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Ограниченность в ИТ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88181" y="4208026"/>
            <a:ext cx="13254038" cy="8703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882848" y="4332208"/>
            <a:ext cx="227004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1С:Университет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3549372" y="4332208"/>
            <a:ext cx="223837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Учет успеваемости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184225" y="4332208"/>
            <a:ext cx="1830110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Автоматизация учета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410813" y="4332208"/>
            <a:ext cx="1913692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Широкий спектр функций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0720983" y="4332208"/>
            <a:ext cx="302680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специализации на ИТ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88181" y="5078373"/>
            <a:ext cx="13254038" cy="8703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882848" y="5202555"/>
            <a:ext cx="227004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Bet365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3549372" y="5202555"/>
            <a:ext cx="223837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Ставки на спорт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184225" y="5202555"/>
            <a:ext cx="1830110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ставок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410813" y="5202555"/>
            <a:ext cx="1913692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Широкий спектр ставок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0720983" y="5202555"/>
            <a:ext cx="302680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специализации на ИТ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88181" y="5948720"/>
            <a:ext cx="13254038" cy="8703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882848" y="6072902"/>
            <a:ext cx="227004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1xBet</a:t>
            </a:r>
            <a:endParaRPr lang="en-US" sz="1900" dirty="0"/>
          </a:p>
        </p:txBody>
      </p:sp>
      <p:sp>
        <p:nvSpPr>
          <p:cNvPr id="38" name="Text 35"/>
          <p:cNvSpPr/>
          <p:nvPr/>
        </p:nvSpPr>
        <p:spPr>
          <a:xfrm>
            <a:off x="3549372" y="6072902"/>
            <a:ext cx="223837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Ставки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184225" y="6072902"/>
            <a:ext cx="1830110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Широкий спектр ставок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8410813" y="6072902"/>
            <a:ext cx="1913692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Высокая ликвидность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0720983" y="6072902"/>
            <a:ext cx="302680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специализации на ИТ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688181" y="6819067"/>
            <a:ext cx="13254038" cy="8703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882848" y="6943249"/>
            <a:ext cx="2270046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AEE4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BetWasp</a:t>
            </a:r>
            <a:endParaRPr lang="en-US" sz="1900" dirty="0"/>
          </a:p>
        </p:txBody>
      </p:sp>
      <p:sp>
        <p:nvSpPr>
          <p:cNvPr id="44" name="Text 41"/>
          <p:cNvSpPr/>
          <p:nvPr/>
        </p:nvSpPr>
        <p:spPr>
          <a:xfrm>
            <a:off x="3549372" y="6943249"/>
            <a:ext cx="2238375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Автоматизация ставок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6184225" y="6943249"/>
            <a:ext cx="1830110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Эффективность в поиске ставок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8410813" y="6943249"/>
            <a:ext cx="1913692" cy="621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Автоматизация ставок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10720983" y="6943249"/>
            <a:ext cx="3026807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Ограниченность в ИТ</a:t>
            </a:r>
            <a:endParaRPr lang="en-US" sz="15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273" y="664964"/>
            <a:ext cx="7821454" cy="118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Уникальное Торговое Предложение (УТП)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273" y="2128957"/>
            <a:ext cx="7821454" cy="1088588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850106" y="2317790"/>
            <a:ext cx="2361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Специализация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106" y="2726412"/>
            <a:ext cx="7443788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Фокус на ИТ-направлениях и студентах технических специальностей.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273" y="3406378"/>
            <a:ext cx="7821454" cy="1088588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850106" y="3595211"/>
            <a:ext cx="2361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Геймификация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0106" y="4003834"/>
            <a:ext cx="7443788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системы ставок, баллов и наград для повышения вовлеченности.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273" y="4683800"/>
            <a:ext cx="7821454" cy="1088588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850106" y="4872633"/>
            <a:ext cx="2361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Интеграция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106" y="5281255"/>
            <a:ext cx="7443788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Ставки на бои роботов и участие в хакатонах создают связь с реальным миром.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273" y="5961221"/>
            <a:ext cx="7821454" cy="1088588"/>
          </a:xfrm>
          <a:prstGeom prst="roundRect">
            <a:avLst>
              <a:gd name="adj" fmla="val 2604"/>
            </a:avLst>
          </a:prstGeom>
          <a:solidFill>
            <a:srgbClr val="484B51"/>
          </a:solidFill>
          <a:ln/>
        </p:spPr>
      </p:sp>
      <p:sp>
        <p:nvSpPr>
          <p:cNvPr id="14" name="Text 11"/>
          <p:cNvSpPr/>
          <p:nvPr/>
        </p:nvSpPr>
        <p:spPr>
          <a:xfrm>
            <a:off x="850106" y="6150054"/>
            <a:ext cx="2361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Персонализация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0106" y="6558677"/>
            <a:ext cx="7443788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обменять баллы на брендированные товары МИРЭА или призы.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273" y="7262336"/>
            <a:ext cx="7821454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D8C5C91-483B-799F-6439-2BB83B39B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412" y="-1"/>
            <a:ext cx="4637988" cy="824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63" y="548521"/>
            <a:ext cx="5484495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Финансовые прогнозы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98063" y="5334953"/>
            <a:ext cx="249328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Год 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98063" y="5766197"/>
            <a:ext cx="64675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Доходы: 5 млн рублей.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8063" y="6204942"/>
            <a:ext cx="64675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Прибыль: 1 млн рублей.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464743" y="5334953"/>
            <a:ext cx="249328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Год 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64743" y="5766197"/>
            <a:ext cx="64675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Доходы: 10 млн рублей.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464743" y="6204942"/>
            <a:ext cx="6467594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Прибыль: 4 млн рублей.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98063" y="6748343"/>
            <a:ext cx="13234273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Финансовые прогнозы CodHammer демонстрируют значительный потенциал роста и прибыльности. Мы ожидаем увеличения доходов за счет расширения пользовательской базы и диверсификации источников дохода. Наша команда уверена в достижении поставленных целей и создании устойчивого бизнеса.</a:t>
            </a:r>
            <a:endParaRPr lang="en-US" sz="15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35049F-5DA3-0966-17A0-793917D54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66"/>
          <a:stretch/>
        </p:blipFill>
        <p:spPr bwMode="auto">
          <a:xfrm>
            <a:off x="698063" y="1607955"/>
            <a:ext cx="5687378" cy="350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2AB08C7-EB35-C212-1061-13F53322E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743" y="1607954"/>
            <a:ext cx="6261783" cy="350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0" y="742355"/>
            <a:ext cx="5225534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Приложение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453068" y="1709023"/>
            <a:ext cx="22860" cy="5778103"/>
          </a:xfrm>
          <a:prstGeom prst="roundRect">
            <a:avLst>
              <a:gd name="adj" fmla="val 137154"/>
            </a:avLst>
          </a:prstGeom>
          <a:solidFill>
            <a:srgbClr val="61646A"/>
          </a:solidFill>
          <a:ln/>
        </p:spPr>
      </p:sp>
      <p:sp>
        <p:nvSpPr>
          <p:cNvPr id="5" name="Shape 2"/>
          <p:cNvSpPr/>
          <p:nvPr/>
        </p:nvSpPr>
        <p:spPr>
          <a:xfrm>
            <a:off x="6665357" y="2167890"/>
            <a:ext cx="626983" cy="22860"/>
          </a:xfrm>
          <a:prstGeom prst="roundRect">
            <a:avLst>
              <a:gd name="adj" fmla="val 137154"/>
            </a:avLst>
          </a:prstGeom>
          <a:solidFill>
            <a:srgbClr val="61646A"/>
          </a:solidFill>
          <a:ln/>
        </p:spPr>
      </p:sp>
      <p:sp>
        <p:nvSpPr>
          <p:cNvPr id="6" name="Shape 3"/>
          <p:cNvSpPr/>
          <p:nvPr/>
        </p:nvSpPr>
        <p:spPr>
          <a:xfrm>
            <a:off x="6217920" y="1944172"/>
            <a:ext cx="470297" cy="470297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7" name="Text 4"/>
          <p:cNvSpPr/>
          <p:nvPr/>
        </p:nvSpPr>
        <p:spPr>
          <a:xfrm>
            <a:off x="6296323" y="1983403"/>
            <a:ext cx="313492" cy="39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498080" y="1917978"/>
            <a:ext cx="2679025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Страница с опросами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498080" y="2369820"/>
            <a:ext cx="6400800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Актуальные вопросы, за ответы на которые пользователи получают баллы.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65357" y="3915489"/>
            <a:ext cx="626983" cy="22860"/>
          </a:xfrm>
          <a:prstGeom prst="roundRect">
            <a:avLst>
              <a:gd name="adj" fmla="val 137154"/>
            </a:avLst>
          </a:prstGeom>
          <a:solidFill>
            <a:srgbClr val="61646A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3691771"/>
            <a:ext cx="470297" cy="470297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2" name="Text 9"/>
          <p:cNvSpPr/>
          <p:nvPr/>
        </p:nvSpPr>
        <p:spPr>
          <a:xfrm>
            <a:off x="6296323" y="3731002"/>
            <a:ext cx="313492" cy="39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498080" y="3665577"/>
            <a:ext cx="3112413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Календарь мероприятий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498080" y="4117419"/>
            <a:ext cx="6400800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Предстоящие события и возможность регистрации.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65357" y="5328642"/>
            <a:ext cx="626983" cy="22860"/>
          </a:xfrm>
          <a:prstGeom prst="roundRect">
            <a:avLst>
              <a:gd name="adj" fmla="val 137154"/>
            </a:avLst>
          </a:prstGeom>
          <a:solidFill>
            <a:srgbClr val="61646A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0" y="5104924"/>
            <a:ext cx="470297" cy="470297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17" name="Text 14"/>
          <p:cNvSpPr/>
          <p:nvPr/>
        </p:nvSpPr>
        <p:spPr>
          <a:xfrm>
            <a:off x="6296323" y="5144155"/>
            <a:ext cx="313492" cy="39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498080" y="5078730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Страница ставок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498080" y="5530572"/>
            <a:ext cx="6400800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Ставки на IT-спорт и робототехнику.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665357" y="6741795"/>
            <a:ext cx="626983" cy="22860"/>
          </a:xfrm>
          <a:prstGeom prst="roundRect">
            <a:avLst>
              <a:gd name="adj" fmla="val 137154"/>
            </a:avLst>
          </a:prstGeom>
          <a:solidFill>
            <a:srgbClr val="61646A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7920" y="6518077"/>
            <a:ext cx="470297" cy="470297"/>
          </a:xfrm>
          <a:prstGeom prst="roundRect">
            <a:avLst>
              <a:gd name="adj" fmla="val 6667"/>
            </a:avLst>
          </a:prstGeom>
          <a:solidFill>
            <a:srgbClr val="484B51"/>
          </a:solidFill>
          <a:ln/>
        </p:spPr>
      </p:sp>
      <p:sp>
        <p:nvSpPr>
          <p:cNvPr id="22" name="Text 19"/>
          <p:cNvSpPr/>
          <p:nvPr/>
        </p:nvSpPr>
        <p:spPr>
          <a:xfrm>
            <a:off x="6296323" y="6557308"/>
            <a:ext cx="313492" cy="391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7498080" y="6491883"/>
            <a:ext cx="3859411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Личный кабинет пользователя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7498080" y="6943725"/>
            <a:ext cx="6400800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Отображение баллов, статистики и диаграммы интересов.</a:t>
            </a:r>
            <a:endParaRPr lang="en-US" sz="16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514</Words>
  <Application>Microsoft Office PowerPoint</Application>
  <PresentationFormat>Произвольный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Roboto</vt:lpstr>
      <vt:lpstr>IBM Plex Sans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vasil</cp:lastModifiedBy>
  <cp:revision>2</cp:revision>
  <dcterms:created xsi:type="dcterms:W3CDTF">2025-03-16T17:36:08Z</dcterms:created>
  <dcterms:modified xsi:type="dcterms:W3CDTF">2025-03-16T18:45:37Z</dcterms:modified>
</cp:coreProperties>
</file>