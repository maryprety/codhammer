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2B4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2B4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2B4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2B4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2B4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2B4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2B4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2B4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2B4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2B4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0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71998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D8CC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CodHammer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768923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Наша цель — значительно повысить вовлеченность студентов через систему ставок на IT-соревнования и создание цифрового портфолио.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129689"/>
            <a:ext cx="362903" cy="362903"/>
          </a:xfrm>
          <a:prstGeom prst="roundRect">
            <a:avLst>
              <a:gd name="adj" fmla="val 25194296"/>
            </a:avLst>
          </a:prstGeom>
          <a:solidFill>
            <a:srgbClr val="F00994"/>
          </a:solidFill>
          <a:ln w="7620">
            <a:solidFill>
              <a:srgbClr val="4D4D5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385084" y="5262324"/>
            <a:ext cx="153114" cy="97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МВ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6756440" y="5112782"/>
            <a:ext cx="3310295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по Мария Васильченко</a:t>
            </a:r>
            <a:endParaRPr lang="en-US" sz="2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0"/>
            <a:ext cx="36576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42336"/>
            <a:ext cx="6673810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D8CC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Платформа для IT-студентов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793790" y="2364462"/>
            <a:ext cx="4579263" cy="2410897"/>
          </a:xfrm>
          <a:prstGeom prst="roundRect">
            <a:avLst>
              <a:gd name="adj" fmla="val 3952"/>
            </a:avLst>
          </a:prstGeom>
          <a:solidFill>
            <a:srgbClr val="CDFBE4"/>
          </a:solidFill>
          <a:ln w="7620">
            <a:solidFill>
              <a:srgbClr val="B3E1C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25988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Геймификация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3089315"/>
            <a:ext cx="41103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Система ставок на IT-соревнования и технические события для повышения интереса студентов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599867" y="2364462"/>
            <a:ext cx="4579263" cy="2410897"/>
          </a:xfrm>
          <a:prstGeom prst="roundRect">
            <a:avLst>
              <a:gd name="adj" fmla="val 3952"/>
            </a:avLst>
          </a:prstGeom>
          <a:solidFill>
            <a:srgbClr val="CDFBE4"/>
          </a:solidFill>
          <a:ln w="7620">
            <a:solidFill>
              <a:srgbClr val="B3E1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34301" y="25988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Аналитика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834301" y="3089315"/>
            <a:ext cx="41103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Инструменты для анализа активности студентов и эффективности образовательных мероприятий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002173"/>
            <a:ext cx="9385221" cy="1685092"/>
          </a:xfrm>
          <a:prstGeom prst="roundRect">
            <a:avLst>
              <a:gd name="adj" fmla="val 5654"/>
            </a:avLst>
          </a:prstGeom>
          <a:solidFill>
            <a:srgbClr val="CDFBE4"/>
          </a:solidFill>
          <a:ln w="7620">
            <a:solidFill>
              <a:srgbClr val="B3E1C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8224" y="5236607"/>
            <a:ext cx="31186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Цифровое портфолио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8224" y="5727025"/>
            <a:ext cx="89163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Возможность для студентов демонстрировать свои навыки и достижения потенциальным работодателям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20803" y="994767"/>
            <a:ext cx="931580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D8CC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Проблемы, которые мы решаем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5717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Современная система технического образования сталкивается с рядом серьезных вызовов, затрагивающих всех участников образовательного процесса. Наша платформа предлагает комплексное решение этих проблем.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138130"/>
            <a:ext cx="680442" cy="6804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40453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Студенты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453580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70% не видят ценности в участии в мероприятиях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340906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Низкая активность на образовательных событиях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6146006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Отсутствие возможности продемонстрировать навыки работодателям</a:t>
            </a:r>
            <a:endParaRPr lang="en-US" sz="17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93" y="3138130"/>
            <a:ext cx="680442" cy="68044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35893" y="40453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Университеты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235893" y="453580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Отсутствие инструментов для анализа активности студентов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5235893" y="5340906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Слепые точки в управлении образовательным процессом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5235893" y="6146006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Расходы до 100 тыс. руб./месяц на мероприятия без обратной связи</a:t>
            </a:r>
            <a:endParaRPr lang="en-US" sz="17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3138130"/>
            <a:ext cx="680442" cy="68044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77995" y="40453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IT-компании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9677995" y="453580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охватывают целевую аудиторию (студенты)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9677995" y="5340906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Упускают талантливых специалистов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9677995" y="6146006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Сложности в оценке реальных навыков выпускников</a:t>
            </a:r>
            <a:endParaRPr lang="en-US" sz="17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902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D8CC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УТП 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6005" y="1847969"/>
            <a:ext cx="2994184" cy="2994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55420" y="51256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CodPoints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616059"/>
            <a:ext cx="415861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Бесплатные баллы за активность, которые конвертируются в зачёты, влияют на карьерный рейтинг и дают доступ к эксклюзивным мероприятиям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8108" y="1847969"/>
            <a:ext cx="2994184" cy="29941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97523" y="51256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Ставки на события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5616059"/>
            <a:ext cx="415861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Уникальная система ставок на технические события: битвы роботов, хакатоны и другие соревнования, повышающая вовлечение студентов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211" y="1847969"/>
            <a:ext cx="2994184" cy="29941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46281" y="5125641"/>
            <a:ext cx="302192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Аналитика для вузов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5616059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Годовая подписка стоимостью 300–500 тыс. руб./вуз, предоставляющая инструменты для динамической оценки активности студентов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2B43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707231"/>
            <a:ext cx="898719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D8CC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Анализ рынка (TAM/SAM/SOM)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1869519"/>
            <a:ext cx="635127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 млн</a:t>
            </a:r>
            <a:endParaRPr lang="en-US" sz="5850" dirty="0"/>
          </a:p>
        </p:txBody>
      </p:sp>
      <p:sp>
        <p:nvSpPr>
          <p:cNvPr id="6" name="Text 3"/>
          <p:cNvSpPr/>
          <p:nvPr/>
        </p:nvSpPr>
        <p:spPr>
          <a:xfrm>
            <a:off x="2551748" y="29013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TAM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3391733"/>
            <a:ext cx="63512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Общее количество студентов в России, потенциально заинтересованных в образовательных технологиях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485221" y="1869519"/>
            <a:ext cx="635138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1,2 млн</a:t>
            </a:r>
            <a:endParaRPr lang="en-US" sz="5850" dirty="0"/>
          </a:p>
        </p:txBody>
      </p:sp>
      <p:sp>
        <p:nvSpPr>
          <p:cNvPr id="9" name="Text 6"/>
          <p:cNvSpPr/>
          <p:nvPr/>
        </p:nvSpPr>
        <p:spPr>
          <a:xfrm>
            <a:off x="9243298" y="29013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SAM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485221" y="3391733"/>
            <a:ext cx="63513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Количество студентов IT-специальностей, являющихся нашей целевой аудиторией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93790" y="4911328"/>
            <a:ext cx="635127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200 тыс.</a:t>
            </a:r>
            <a:endParaRPr lang="en-US" sz="5850" dirty="0"/>
          </a:p>
        </p:txBody>
      </p:sp>
      <p:sp>
        <p:nvSpPr>
          <p:cNvPr id="12" name="Text 9"/>
          <p:cNvSpPr/>
          <p:nvPr/>
        </p:nvSpPr>
        <p:spPr>
          <a:xfrm>
            <a:off x="2551748" y="59431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SOM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93790" y="6433542"/>
            <a:ext cx="63512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Планируемое количество пользователей за первый год работы, подтвержденное результатами MVP-теста в МИРЭА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7485221" y="4911328"/>
            <a:ext cx="635138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22%</a:t>
            </a:r>
            <a:endParaRPr lang="en-US" sz="5850" dirty="0"/>
          </a:p>
        </p:txBody>
      </p:sp>
      <p:sp>
        <p:nvSpPr>
          <p:cNvPr id="15" name="Text 12"/>
          <p:cNvSpPr/>
          <p:nvPr/>
        </p:nvSpPr>
        <p:spPr>
          <a:xfrm>
            <a:off x="9243298" y="59431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Рост рынка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485221" y="6433542"/>
            <a:ext cx="63513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Ежегодный рост рынка EdTech в России, создающий благоприятные условия для развития CodHammer</a:t>
            </a:r>
            <a:endParaRPr lang="en-US" sz="17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37461"/>
            <a:ext cx="7556421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D8CC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Бизнес-модель и выгоды для партнёров</a:t>
            </a:r>
            <a:endParaRPr lang="en-US" sz="33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1955840"/>
            <a:ext cx="510302" cy="51030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2636163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Подписка вузов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6280190" y="3003947"/>
            <a:ext cx="75564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Стоимость: 300–500 тыс. руб./вуз/год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6280190" y="3335655"/>
            <a:ext cx="75564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Выгода: аналитика активности и 30% рост участия в мероприятиях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90" y="3947993"/>
            <a:ext cx="510302" cy="51030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280190" y="4628317"/>
            <a:ext cx="2346722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Реклама IT-компаний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6280190" y="4996101"/>
            <a:ext cx="75564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Стоимость: 50–150 тыс. руб./мес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6280190" y="5327809"/>
            <a:ext cx="75564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Выгода: доступ к целевой аудитории талантливых студентов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5940147"/>
            <a:ext cx="510302" cy="51030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80190" y="6620470"/>
            <a:ext cx="2363033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Ставки и Merch Points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6280190" y="6988254"/>
            <a:ext cx="75564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Продажа Merch Points: 150 тыс. руб./мес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6280190" y="7319963"/>
            <a:ext cx="75564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Выгода для студентов: мотивация и возможность получения призов</a:t>
            </a:r>
            <a:endParaRPr lang="en-US" sz="13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5453" y="889040"/>
            <a:ext cx="7475934" cy="581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D8CC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Финансовый план на 6 месяцев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765453" y="1748909"/>
            <a:ext cx="7613094" cy="4062413"/>
          </a:xfrm>
          <a:prstGeom prst="roundRect">
            <a:avLst>
              <a:gd name="adj" fmla="val 1922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3073" y="1756529"/>
            <a:ext cx="7597854" cy="83319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59167" y="1875592"/>
            <a:ext cx="1523881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Месяц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2862382" y="1875592"/>
            <a:ext cx="1520071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Доходы, руб.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761786" y="1875592"/>
            <a:ext cx="1520071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Расходы, руб.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661190" y="1875592"/>
            <a:ext cx="1523881" cy="595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Чистая прибыль, руб.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73073" y="2589728"/>
            <a:ext cx="7597854" cy="53566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959167" y="2708791"/>
            <a:ext cx="1523881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2862382" y="2708791"/>
            <a:ext cx="1520071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50 000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4761786" y="2708791"/>
            <a:ext cx="1520071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341 000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661190" y="2708791"/>
            <a:ext cx="1523881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-291 000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773073" y="3125391"/>
            <a:ext cx="7597854" cy="53566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959167" y="3244453"/>
            <a:ext cx="1523881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2862382" y="3244453"/>
            <a:ext cx="1520071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100 000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4761786" y="3244453"/>
            <a:ext cx="1520071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341 000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6661190" y="3244453"/>
            <a:ext cx="1523881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-241 000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773073" y="3661053"/>
            <a:ext cx="7597854" cy="53566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959167" y="3780115"/>
            <a:ext cx="1523881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2862382" y="3780115"/>
            <a:ext cx="1520071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250 000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4761786" y="3780115"/>
            <a:ext cx="1520071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641 000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6661190" y="3780115"/>
            <a:ext cx="1523881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-391 000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773073" y="4196715"/>
            <a:ext cx="7597854" cy="53566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959167" y="4315778"/>
            <a:ext cx="1523881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2862382" y="4315778"/>
            <a:ext cx="1520071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400 000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4761786" y="4315778"/>
            <a:ext cx="1520071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341 000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6661190" y="4315778"/>
            <a:ext cx="1523881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+59 000</a:t>
            </a:r>
            <a:endParaRPr lang="en-US" sz="1450" dirty="0"/>
          </a:p>
        </p:txBody>
      </p:sp>
      <p:sp>
        <p:nvSpPr>
          <p:cNvPr id="30" name="Shape 27"/>
          <p:cNvSpPr/>
          <p:nvPr/>
        </p:nvSpPr>
        <p:spPr>
          <a:xfrm>
            <a:off x="773073" y="4732377"/>
            <a:ext cx="7597854" cy="53566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959167" y="4851440"/>
            <a:ext cx="1523881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50" dirty="0"/>
          </a:p>
        </p:txBody>
      </p:sp>
      <p:sp>
        <p:nvSpPr>
          <p:cNvPr id="32" name="Text 29"/>
          <p:cNvSpPr/>
          <p:nvPr/>
        </p:nvSpPr>
        <p:spPr>
          <a:xfrm>
            <a:off x="2862382" y="4851440"/>
            <a:ext cx="1520071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600 000</a:t>
            </a:r>
            <a:endParaRPr lang="en-US" sz="1450" dirty="0"/>
          </a:p>
        </p:txBody>
      </p:sp>
      <p:sp>
        <p:nvSpPr>
          <p:cNvPr id="33" name="Text 30"/>
          <p:cNvSpPr/>
          <p:nvPr/>
        </p:nvSpPr>
        <p:spPr>
          <a:xfrm>
            <a:off x="4761786" y="4851440"/>
            <a:ext cx="1520071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641 000</a:t>
            </a:r>
            <a:endParaRPr lang="en-US" sz="1450" dirty="0"/>
          </a:p>
        </p:txBody>
      </p:sp>
      <p:sp>
        <p:nvSpPr>
          <p:cNvPr id="34" name="Text 31"/>
          <p:cNvSpPr/>
          <p:nvPr/>
        </p:nvSpPr>
        <p:spPr>
          <a:xfrm>
            <a:off x="6661190" y="4851440"/>
            <a:ext cx="1523881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-41 000</a:t>
            </a:r>
            <a:endParaRPr lang="en-US" sz="1450" dirty="0"/>
          </a:p>
        </p:txBody>
      </p:sp>
      <p:sp>
        <p:nvSpPr>
          <p:cNvPr id="35" name="Shape 32"/>
          <p:cNvSpPr/>
          <p:nvPr/>
        </p:nvSpPr>
        <p:spPr>
          <a:xfrm>
            <a:off x="773073" y="5268039"/>
            <a:ext cx="7597854" cy="53566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6" name="Text 33"/>
          <p:cNvSpPr/>
          <p:nvPr/>
        </p:nvSpPr>
        <p:spPr>
          <a:xfrm>
            <a:off x="959167" y="5387102"/>
            <a:ext cx="1523881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50" dirty="0"/>
          </a:p>
        </p:txBody>
      </p:sp>
      <p:sp>
        <p:nvSpPr>
          <p:cNvPr id="37" name="Text 34"/>
          <p:cNvSpPr/>
          <p:nvPr/>
        </p:nvSpPr>
        <p:spPr>
          <a:xfrm>
            <a:off x="2862382" y="5387102"/>
            <a:ext cx="1520071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700 000</a:t>
            </a:r>
            <a:endParaRPr lang="en-US" sz="1450" dirty="0"/>
          </a:p>
        </p:txBody>
      </p:sp>
      <p:sp>
        <p:nvSpPr>
          <p:cNvPr id="38" name="Text 35"/>
          <p:cNvSpPr/>
          <p:nvPr/>
        </p:nvSpPr>
        <p:spPr>
          <a:xfrm>
            <a:off x="4761786" y="5387102"/>
            <a:ext cx="1520071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341 000</a:t>
            </a:r>
            <a:endParaRPr lang="en-US" sz="1450" dirty="0"/>
          </a:p>
        </p:txBody>
      </p:sp>
      <p:sp>
        <p:nvSpPr>
          <p:cNvPr id="39" name="Text 36"/>
          <p:cNvSpPr/>
          <p:nvPr/>
        </p:nvSpPr>
        <p:spPr>
          <a:xfrm>
            <a:off x="6661190" y="5387102"/>
            <a:ext cx="1523881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+359 000</a:t>
            </a:r>
            <a:endParaRPr lang="en-US" sz="1450" dirty="0"/>
          </a:p>
        </p:txBody>
      </p:sp>
      <p:sp>
        <p:nvSpPr>
          <p:cNvPr id="40" name="Text 37"/>
          <p:cNvSpPr/>
          <p:nvPr/>
        </p:nvSpPr>
        <p:spPr>
          <a:xfrm>
            <a:off x="765453" y="6020395"/>
            <a:ext cx="7613094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50" b="1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Точка безубыточности </a:t>
            </a:r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Месяц 4 → </a:t>
            </a:r>
            <a:pPr algn="l" indent="0" marL="0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+59 тыс. руб./мес </a:t>
            </a:r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50" dirty="0"/>
          </a:p>
        </p:txBody>
      </p:sp>
      <p:sp>
        <p:nvSpPr>
          <p:cNvPr id="41" name="Text 38"/>
          <p:cNvSpPr/>
          <p:nvPr/>
        </p:nvSpPr>
        <p:spPr>
          <a:xfrm>
            <a:off x="765453" y="6382941"/>
            <a:ext cx="7613094" cy="595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50" b="1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ROI инвесторов </a:t>
            </a:r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120% за 2 года (инвестиции </a:t>
            </a:r>
            <a:pPr algn="l" indent="0" marL="0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1,5 млн руб. </a:t>
            </a:r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</a:t>
            </a:r>
            <a:pPr algn="l" indent="0" marL="0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млн руб. прибыли </a:t>
            </a:r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).</a:t>
            </a:r>
            <a:endParaRPr lang="en-US" sz="1450" dirty="0"/>
          </a:p>
        </p:txBody>
      </p:sp>
      <p:sp>
        <p:nvSpPr>
          <p:cNvPr id="42" name="Text 39"/>
          <p:cNvSpPr/>
          <p:nvPr/>
        </p:nvSpPr>
        <p:spPr>
          <a:xfrm>
            <a:off x="765453" y="7043023"/>
            <a:ext cx="7613094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50" b="1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Ключевые метрики </a:t>
            </a:r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CAC = 150 руб., LTV = 600 руб.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2B43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1737717"/>
            <a:ext cx="848034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D8CC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Конкуренты и преимущества</a:t>
            </a:r>
            <a:endParaRPr lang="en-US" sz="4450" dirty="0"/>
          </a:p>
        </p:txBody>
      </p:sp>
      <p:sp>
        <p:nvSpPr>
          <p:cNvPr id="5" name="Shape 2"/>
          <p:cNvSpPr/>
          <p:nvPr/>
        </p:nvSpPr>
        <p:spPr>
          <a:xfrm>
            <a:off x="793790" y="2786658"/>
            <a:ext cx="13042821" cy="3705225"/>
          </a:xfrm>
          <a:prstGeom prst="roundRect">
            <a:avLst>
              <a:gd name="adj" fmla="val 2571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1410" y="2794278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028224" y="2937986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Конкуренты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545824" y="2937986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Сравнение с CodHammer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801410" y="3444597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028224" y="3588306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DiaClass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545824" y="3588306"/>
            <a:ext cx="60563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Ориентирован на школьников, в то время как CodHammer фокусируется на IT-студентах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801410" y="4457819"/>
            <a:ext cx="1302758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1028224" y="4601528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Bet365/1xBet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7545824" y="4601528"/>
            <a:ext cx="60563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охватывают студенческую аудиторию, CodHammer заполняет эту нишу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801410" y="5471041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1028224" y="5614749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1С:Университет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7545824" y="5614749"/>
            <a:ext cx="60563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Отсутствие геймификации и системы ставок, которые являются ключевыми функциями CodHammer</a:t>
            </a:r>
            <a:endParaRPr lang="en-US" sz="17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2B43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1549003"/>
            <a:ext cx="895838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D8CC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План сотрудничества с вузами</a:t>
            </a:r>
            <a:endParaRPr lang="en-US" sz="4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2597944"/>
            <a:ext cx="1134070" cy="136088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68022" y="2824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Интеграция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268022" y="3315176"/>
            <a:ext cx="115685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CodHammer дает доступ к данным активности студентов</a:t>
            </a:r>
            <a:endParaRPr lang="en-US" sz="17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958828"/>
            <a:ext cx="1134070" cy="136088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268022" y="4185642"/>
            <a:ext cx="30370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Спонсорские пакеты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2268022" y="4676061"/>
            <a:ext cx="115685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Базовый: 100 тыс. руб./мероприятие, Премиум: 300 тыс. руб./год</a:t>
            </a:r>
            <a:endParaRPr lang="en-US" sz="17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319713"/>
            <a:ext cx="1134070" cy="136088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268022" y="55465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Продвижение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2268022" y="6036945"/>
            <a:ext cx="115685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Совместные посты в соцсетях</a:t>
            </a:r>
            <a:endParaRPr lang="en-US" sz="17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0918"/>
            <a:ext cx="5387102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D8CC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Команда и опыт</a:t>
            </a:r>
            <a:endParaRPr lang="en-US" sz="4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785223"/>
            <a:ext cx="2905720" cy="17958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850362"/>
            <a:ext cx="2750820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Мария Васильченко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793790" y="4316135"/>
            <a:ext cx="3058716" cy="3103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UX/UI дизайнер сразу представляет не только макет, но и как будет реализован проект на стороне frontend разработки. Берет на воружение вдохновение и технологии для быстрой разработки. </a:t>
            </a:r>
            <a:endParaRPr lang="en-US" sz="16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1825" y="1785223"/>
            <a:ext cx="2905720" cy="17958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21825" y="3850362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Дмитрий Енин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4121825" y="4316135"/>
            <a:ext cx="3058716" cy="2758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Manager</a:t>
            </a:r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Имеет колкий язык и острый ум. Несмотря на спонтаность в работе, умеет вовремя сориентироваться и преподнести выиграшную стратегию для проекта. 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9860" y="1785223"/>
            <a:ext cx="2905720" cy="17958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49860" y="3850362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Денис Шипунов </a:t>
            </a:r>
            <a:endParaRPr lang="en-US" sz="2100" dirty="0"/>
          </a:p>
        </p:txBody>
      </p:sp>
      <p:sp>
        <p:nvSpPr>
          <p:cNvPr id="11" name="Text 6"/>
          <p:cNvSpPr/>
          <p:nvPr/>
        </p:nvSpPr>
        <p:spPr>
          <a:xfrm>
            <a:off x="7449860" y="4316135"/>
            <a:ext cx="3058716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Backend-разработчик 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7449860" y="4790123"/>
            <a:ext cx="3058716" cy="2758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Терпеливый, имеет собственный вывериный граффик работы. Держит свое слово и знает когда стоит остановиться. Не всегда в сети, но все время трезво оценивает возможности.</a:t>
            </a:r>
            <a:endParaRPr lang="en-US" sz="16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7895" y="1785223"/>
            <a:ext cx="2905720" cy="17958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777895" y="3850362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Евгений Зыбин</a:t>
            </a:r>
            <a:endParaRPr lang="en-US" sz="2100" dirty="0"/>
          </a:p>
        </p:txBody>
      </p:sp>
      <p:sp>
        <p:nvSpPr>
          <p:cNvPr id="15" name="Text 9"/>
          <p:cNvSpPr/>
          <p:nvPr/>
        </p:nvSpPr>
        <p:spPr>
          <a:xfrm>
            <a:off x="10777895" y="4316135"/>
            <a:ext cx="3058716" cy="3103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DevOps-инженер, давно общается с Енином и понимает его от головы до пят. Содержит навок быстро ждостучаться до опонента и четко сформулировать тезе. Результатом становиться ускорение процесса работы. </a:t>
            </a:r>
            <a:endParaRPr lang="en-US" sz="16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2025-05-25T21:29:06Z</dcterms:created>
  <dcterms:modified xsi:type="dcterms:W3CDTF">2025-05-25T21:29:06Z</dcterms:modified>
</cp:coreProperties>
</file>