
<file path=[Content_Types].xml><?xml version="1.0" encoding="utf-8"?>
<Types xmlns="http://schemas.openxmlformats.org/package/2006/content-types">
  <Default Extension="fntdata" ContentType="application/x-fontdata"/>
  <Default Extension="gif" ContentType="image/gif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4630400" cy="8229600"/>
  <p:notesSz cx="8229600" cy="14630400"/>
  <p:embeddedFontLst>
    <p:embeddedFont>
      <p:font typeface="Arimo" panose="020B0604020202020204" charset="0"/>
      <p:regular r:id="rId13"/>
    </p:embeddedFont>
  </p:embeddedFontLst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1" d="100"/>
          <a:sy n="81" d="100"/>
        </p:scale>
        <p:origin x="101" y="9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1.fntdata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124971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150D4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gi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3" Type="http://schemas.openxmlformats.org/officeDocument/2006/relationships/image" Target="../media/image12.png"/><Relationship Id="rId7" Type="http://schemas.openxmlformats.org/officeDocument/2006/relationships/image" Target="../media/image16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5.png"/><Relationship Id="rId5" Type="http://schemas.openxmlformats.org/officeDocument/2006/relationships/image" Target="../media/image14.pn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5.png"/><Relationship Id="rId3" Type="http://schemas.openxmlformats.org/officeDocument/2006/relationships/image" Target="../media/image20.png"/><Relationship Id="rId7" Type="http://schemas.openxmlformats.org/officeDocument/2006/relationships/image" Target="../media/image2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3.png"/><Relationship Id="rId5" Type="http://schemas.openxmlformats.org/officeDocument/2006/relationships/image" Target="../media/image22.png"/><Relationship Id="rId10" Type="http://schemas.openxmlformats.org/officeDocument/2006/relationships/image" Target="../media/image27.png"/><Relationship Id="rId4" Type="http://schemas.openxmlformats.org/officeDocument/2006/relationships/image" Target="../media/image21.png"/><Relationship Id="rId9" Type="http://schemas.openxmlformats.org/officeDocument/2006/relationships/image" Target="../media/image2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9.xml"/><Relationship Id="rId5" Type="http://schemas.openxmlformats.org/officeDocument/2006/relationships/image" Target="../media/image31.png"/><Relationship Id="rId4" Type="http://schemas.openxmlformats.org/officeDocument/2006/relationships/image" Target="../media/image30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0.xml"/><Relationship Id="rId5" Type="http://schemas.openxmlformats.org/officeDocument/2006/relationships/image" Target="../media/image34.png"/><Relationship Id="rId4" Type="http://schemas.openxmlformats.org/officeDocument/2006/relationships/image" Target="../media/image3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5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0"/>
          <p:cNvSpPr/>
          <p:nvPr/>
        </p:nvSpPr>
        <p:spPr>
          <a:xfrm>
            <a:off x="6324124" y="3008709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CodHammer</a:t>
            </a:r>
            <a:endParaRPr lang="en-US" sz="4400" dirty="0"/>
          </a:p>
        </p:txBody>
      </p:sp>
      <p:sp>
        <p:nvSpPr>
          <p:cNvPr id="4" name="Text 1"/>
          <p:cNvSpPr/>
          <p:nvPr/>
        </p:nvSpPr>
        <p:spPr>
          <a:xfrm>
            <a:off x="6324124" y="4071699"/>
            <a:ext cx="746855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Инновационная платформа для повышения вовлеченности студентов технических вузов через геймификацию и ставки на технологические соревнования.</a:t>
            </a:r>
            <a:endParaRPr lang="en-US" sz="1850" dirty="0"/>
          </a:p>
        </p:txBody>
      </p:sp>
      <p:pic>
        <p:nvPicPr>
          <p:cNvPr id="15" name="Рисунок 14">
            <a:extLst>
              <a:ext uri="{FF2B5EF4-FFF2-40B4-BE49-F238E27FC236}">
                <a16:creationId xmlns:a16="http://schemas.microsoft.com/office/drawing/2014/main" id="{0CF5BD7A-AA49-B2A1-8E89-5A2E068FC76C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0749" r="14702"/>
          <a:stretch/>
        </p:blipFill>
        <p:spPr>
          <a:xfrm>
            <a:off x="0" y="0"/>
            <a:ext cx="5783638" cy="8237982"/>
          </a:xfrm>
          <a:prstGeom prst="rect">
            <a:avLst/>
          </a:prstGeom>
        </p:spPr>
      </p:pic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182291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Введение</a:t>
            </a:r>
            <a:endParaRPr lang="en-US" sz="4400" dirty="0"/>
          </a:p>
        </p:txBody>
      </p:sp>
      <p:sp>
        <p:nvSpPr>
          <p:cNvPr id="4" name="Shape 1"/>
          <p:cNvSpPr/>
          <p:nvPr/>
        </p:nvSpPr>
        <p:spPr>
          <a:xfrm>
            <a:off x="6324124" y="2514481"/>
            <a:ext cx="538520" cy="538520"/>
          </a:xfrm>
          <a:prstGeom prst="roundRect">
            <a:avLst>
              <a:gd name="adj" fmla="val 6668"/>
            </a:avLst>
          </a:prstGeom>
          <a:solidFill>
            <a:srgbClr val="2B2952"/>
          </a:solidFill>
          <a:ln/>
        </p:spPr>
      </p:sp>
      <p:pic>
        <p:nvPicPr>
          <p:cNvPr id="5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4374" y="2572464"/>
            <a:ext cx="337899" cy="42243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7101959" y="2514481"/>
            <a:ext cx="2836783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Инновационная платформа</a:t>
            </a:r>
            <a:endParaRPr lang="en-US" sz="2200" dirty="0"/>
          </a:p>
        </p:txBody>
      </p:sp>
      <p:sp>
        <p:nvSpPr>
          <p:cNvPr id="7" name="Text 3"/>
          <p:cNvSpPr/>
          <p:nvPr/>
        </p:nvSpPr>
        <p:spPr>
          <a:xfrm>
            <a:off x="7101959" y="3361968"/>
            <a:ext cx="2836783" cy="1915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Решаем проблему низкой вовлеченности студентов во внеучебную деятельность.</a:t>
            </a:r>
            <a:endParaRPr lang="en-US" sz="1850" dirty="0"/>
          </a:p>
        </p:txBody>
      </p:sp>
      <p:sp>
        <p:nvSpPr>
          <p:cNvPr id="8" name="Shape 4"/>
          <p:cNvSpPr/>
          <p:nvPr/>
        </p:nvSpPr>
        <p:spPr>
          <a:xfrm>
            <a:off x="10178058" y="2514481"/>
            <a:ext cx="538520" cy="538520"/>
          </a:xfrm>
          <a:prstGeom prst="roundRect">
            <a:avLst>
              <a:gd name="adj" fmla="val 6668"/>
            </a:avLst>
          </a:prstGeom>
          <a:solidFill>
            <a:srgbClr val="2B2952"/>
          </a:solidFill>
          <a:ln/>
        </p:spPr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278308" y="2572464"/>
            <a:ext cx="337899" cy="422434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10955893" y="2514481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Геймификация</a:t>
            </a:r>
            <a:endParaRPr lang="en-US" sz="2200" dirty="0"/>
          </a:p>
        </p:txBody>
      </p:sp>
      <p:sp>
        <p:nvSpPr>
          <p:cNvPr id="11" name="Text 6"/>
          <p:cNvSpPr/>
          <p:nvPr/>
        </p:nvSpPr>
        <p:spPr>
          <a:xfrm>
            <a:off x="10955893" y="3010019"/>
            <a:ext cx="2836783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Интеграция ставок на технологические соревнования.</a:t>
            </a:r>
            <a:endParaRPr lang="en-US" sz="1850" dirty="0"/>
          </a:p>
        </p:txBody>
      </p:sp>
      <p:sp>
        <p:nvSpPr>
          <p:cNvPr id="12" name="Shape 7"/>
          <p:cNvSpPr/>
          <p:nvPr/>
        </p:nvSpPr>
        <p:spPr>
          <a:xfrm>
            <a:off x="6324124" y="5785604"/>
            <a:ext cx="538520" cy="538520"/>
          </a:xfrm>
          <a:prstGeom prst="roundRect">
            <a:avLst>
              <a:gd name="adj" fmla="val 6668"/>
            </a:avLst>
          </a:prstGeom>
          <a:solidFill>
            <a:srgbClr val="2B2952"/>
          </a:solidFill>
          <a:ln/>
        </p:spPr>
      </p:sp>
      <p:pic>
        <p:nvPicPr>
          <p:cNvPr id="13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4374" y="5843588"/>
            <a:ext cx="337899" cy="422434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7101959" y="5785604"/>
            <a:ext cx="3541276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Экосистема мотивации</a:t>
            </a:r>
            <a:endParaRPr lang="en-US" sz="2200" dirty="0"/>
          </a:p>
        </p:txBody>
      </p:sp>
      <p:sp>
        <p:nvSpPr>
          <p:cNvPr id="15" name="Text 9"/>
          <p:cNvSpPr/>
          <p:nvPr/>
        </p:nvSpPr>
        <p:spPr>
          <a:xfrm>
            <a:off x="7101959" y="6281142"/>
            <a:ext cx="669071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Уникальное решение для повышения активности студентов.</a:t>
            </a:r>
            <a:endParaRPr lang="en-US" sz="1850" dirty="0"/>
          </a:p>
        </p:txBody>
      </p:sp>
    </p:spTree>
  </p:cSld>
  <p:clrMapOvr>
    <a:masterClrMapping/>
  </p:clrMapOvr>
  <p:transition spd="slow">
    <p:wip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2809161" y="961668"/>
            <a:ext cx="9011960" cy="112645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8850"/>
              </a:lnSpc>
              <a:buNone/>
            </a:pPr>
            <a:r>
              <a:rPr lang="en-US" sz="70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Проблема</a:t>
            </a:r>
            <a:endParaRPr lang="en-US" sz="7050" dirty="0"/>
          </a:p>
        </p:txBody>
      </p:sp>
      <p:sp>
        <p:nvSpPr>
          <p:cNvPr id="5" name="Text 2"/>
          <p:cNvSpPr/>
          <p:nvPr/>
        </p:nvSpPr>
        <p:spPr>
          <a:xfrm>
            <a:off x="837724" y="2471023"/>
            <a:ext cx="6333887" cy="507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950"/>
              </a:lnSpc>
              <a:buNone/>
            </a:pPr>
            <a:r>
              <a:rPr lang="en-US" sz="39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70%</a:t>
            </a:r>
            <a:endParaRPr lang="en-US" sz="3950" dirty="0"/>
          </a:p>
        </p:txBody>
      </p:sp>
      <p:sp>
        <p:nvSpPr>
          <p:cNvPr id="6" name="Text 3"/>
          <p:cNvSpPr/>
          <p:nvPr/>
        </p:nvSpPr>
        <p:spPr>
          <a:xfrm>
            <a:off x="2878217" y="3217783"/>
            <a:ext cx="2252901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Студентов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837724" y="3614261"/>
            <a:ext cx="6333887" cy="918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Не получают бонусов за участие во внеучебных мероприятиях. Это приводит к снижению мотивации и уменьшению интереса к развитию вне рамок учебной программы. 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7458789" y="2471023"/>
            <a:ext cx="6333887" cy="507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950"/>
              </a:lnSpc>
              <a:buNone/>
            </a:pPr>
            <a:r>
              <a:rPr lang="en-US" sz="39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0</a:t>
            </a:r>
            <a:endParaRPr lang="en-US" sz="3950" dirty="0"/>
          </a:p>
        </p:txBody>
      </p:sp>
      <p:sp>
        <p:nvSpPr>
          <p:cNvPr id="9" name="Text 6"/>
          <p:cNvSpPr/>
          <p:nvPr/>
        </p:nvSpPr>
        <p:spPr>
          <a:xfrm>
            <a:off x="9499283" y="3217783"/>
            <a:ext cx="2252901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Единых систем</a:t>
            </a:r>
            <a:endParaRPr lang="en-US" sz="1750" dirty="0"/>
          </a:p>
        </p:txBody>
      </p:sp>
      <p:sp>
        <p:nvSpPr>
          <p:cNvPr id="10" name="Text 7"/>
          <p:cNvSpPr/>
          <p:nvPr/>
        </p:nvSpPr>
        <p:spPr>
          <a:xfrm>
            <a:off x="7458789" y="3614261"/>
            <a:ext cx="6333887" cy="122491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Отсутствие единой системы учета активности среди университетов. Это затрудняет обмен опытом и знаниями между вузами, а также усложняет процесс оценки достижений студентов на национальном уровне. 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4148257" y="5509379"/>
            <a:ext cx="6333887" cy="50744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3950"/>
              </a:lnSpc>
              <a:buNone/>
            </a:pPr>
            <a:r>
              <a:rPr lang="en-US" sz="39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↓</a:t>
            </a:r>
            <a:endParaRPr lang="en-US" sz="3950" dirty="0"/>
          </a:p>
        </p:txBody>
      </p:sp>
      <p:sp>
        <p:nvSpPr>
          <p:cNvPr id="12" name="Text 9"/>
          <p:cNvSpPr/>
          <p:nvPr/>
        </p:nvSpPr>
        <p:spPr>
          <a:xfrm>
            <a:off x="6188750" y="6256139"/>
            <a:ext cx="2252901" cy="28158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200"/>
              </a:lnSpc>
              <a:buNone/>
            </a:pPr>
            <a:r>
              <a:rPr lang="en-US" sz="175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Рынок ставок</a:t>
            </a:r>
            <a:endParaRPr lang="en-US" sz="1750" dirty="0"/>
          </a:p>
        </p:txBody>
      </p:sp>
      <p:sp>
        <p:nvSpPr>
          <p:cNvPr id="13" name="Text 10"/>
          <p:cNvSpPr/>
          <p:nvPr/>
        </p:nvSpPr>
        <p:spPr>
          <a:xfrm>
            <a:off x="4148257" y="6652617"/>
            <a:ext cx="6333887" cy="91868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400"/>
              </a:lnSpc>
              <a:buNone/>
            </a:pPr>
            <a:r>
              <a:rPr lang="en-US" sz="15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Существует огромный потенциал для развития рынка ставок на технологические соревнования, что может привлечь дополнительное финансирование и повысить интерес к таким мероприятиям. </a:t>
            </a:r>
            <a:endParaRPr lang="en-US" sz="1500" dirty="0"/>
          </a:p>
        </p:txBody>
      </p:sp>
    </p:spTree>
  </p:cSld>
  <p:clrMapOvr>
    <a:masterClrMapping/>
  </p:clrMapOvr>
  <p:transition spd="slow">
    <p:wip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rcRect t="2176"/>
          <a:stretch/>
        </p:blipFill>
        <p:spPr>
          <a:xfrm>
            <a:off x="0" y="-35258"/>
            <a:ext cx="5632490" cy="8264857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324124" y="1609606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Решение</a:t>
            </a:r>
            <a:endParaRPr lang="en-US" sz="44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324124" y="2672596"/>
            <a:ext cx="562451" cy="56245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6324124" y="3474363"/>
            <a:ext cx="2250162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Геймификация</a:t>
            </a:r>
            <a:endParaRPr lang="en-US" sz="2200" dirty="0"/>
          </a:p>
        </p:txBody>
      </p:sp>
      <p:sp>
        <p:nvSpPr>
          <p:cNvPr id="6" name="Text 2"/>
          <p:cNvSpPr/>
          <p:nvPr/>
        </p:nvSpPr>
        <p:spPr>
          <a:xfrm>
            <a:off x="6324124" y="4321850"/>
            <a:ext cx="2250162" cy="1532096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Система мотивации за участие во внеучебных мероприятиях.</a:t>
            </a:r>
            <a:endParaRPr lang="en-US" sz="185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933259" y="2672596"/>
            <a:ext cx="562451" cy="562451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8933259" y="3474363"/>
            <a:ext cx="2250162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Безрисковые ставки</a:t>
            </a:r>
            <a:endParaRPr lang="en-US" sz="2200" dirty="0"/>
          </a:p>
        </p:txBody>
      </p:sp>
      <p:sp>
        <p:nvSpPr>
          <p:cNvPr id="9" name="Text 4"/>
          <p:cNvSpPr/>
          <p:nvPr/>
        </p:nvSpPr>
        <p:spPr>
          <a:xfrm>
            <a:off x="8933259" y="4321850"/>
            <a:ext cx="2250162" cy="22981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Возможность делать ставки на технологические события без финансовых рисков.</a:t>
            </a:r>
            <a:endParaRPr lang="en-US" sz="185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1542395" y="2672596"/>
            <a:ext cx="562570" cy="56257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1542395" y="3474482"/>
            <a:ext cx="2250281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Призы и мерч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11542395" y="3970020"/>
            <a:ext cx="2250281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Эксклюзивные призы и мерч в обмен на баллы.</a:t>
            </a:r>
            <a:endParaRPr lang="en-US" sz="1850" dirty="0"/>
          </a:p>
        </p:txBody>
      </p:sp>
    </p:spTree>
  </p:cSld>
  <p:clrMapOvr>
    <a:masterClrMapping/>
  </p:clrMapOvr>
  <p:transition spd="slow">
    <p:wip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749975"/>
            <a:ext cx="6205538" cy="59840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470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Business Model Canvas</a:t>
            </a:r>
            <a:endParaRPr lang="en-US" sz="375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11692" y="4176117"/>
            <a:ext cx="6607016" cy="6607016"/>
          </a:xfrm>
          <a:prstGeom prst="rect">
            <a:avLst/>
          </a:prstGeom>
        </p:spPr>
      </p:pic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54416" y="6316861"/>
            <a:ext cx="343257" cy="429101"/>
          </a:xfrm>
          <a:prstGeom prst="rect">
            <a:avLst/>
          </a:prstGeom>
        </p:spPr>
      </p:pic>
      <p:pic>
        <p:nvPicPr>
          <p:cNvPr id="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011692" y="4176117"/>
            <a:ext cx="6607016" cy="6607016"/>
          </a:xfrm>
          <a:prstGeom prst="rect">
            <a:avLst/>
          </a:prstGeom>
        </p:spPr>
      </p:pic>
      <p:pic>
        <p:nvPicPr>
          <p:cNvPr id="6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195298" y="4975979"/>
            <a:ext cx="343257" cy="429101"/>
          </a:xfrm>
          <a:prstGeom prst="rect">
            <a:avLst/>
          </a:prstGeom>
        </p:spPr>
      </p:pic>
      <p:pic>
        <p:nvPicPr>
          <p:cNvPr id="7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011692" y="4176117"/>
            <a:ext cx="6607016" cy="6607016"/>
          </a:xfrm>
          <a:prstGeom prst="rect">
            <a:avLst/>
          </a:prstGeom>
        </p:spPr>
      </p:pic>
      <p:pic>
        <p:nvPicPr>
          <p:cNvPr id="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91607" y="4975979"/>
            <a:ext cx="343257" cy="429101"/>
          </a:xfrm>
          <a:prstGeom prst="rect">
            <a:avLst/>
          </a:prstGeom>
        </p:spPr>
      </p:pic>
      <p:pic>
        <p:nvPicPr>
          <p:cNvPr id="9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4011692" y="4176117"/>
            <a:ext cx="6607016" cy="6607016"/>
          </a:xfrm>
          <a:prstGeom prst="rect">
            <a:avLst/>
          </a:prstGeom>
        </p:spPr>
      </p:pic>
      <p:pic>
        <p:nvPicPr>
          <p:cNvPr id="10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9432488" y="6316861"/>
            <a:ext cx="343257" cy="429101"/>
          </a:xfrm>
          <a:prstGeom prst="rect">
            <a:avLst/>
          </a:prstGeom>
        </p:spPr>
      </p:pic>
      <p:sp>
        <p:nvSpPr>
          <p:cNvPr id="11" name="Text 1"/>
          <p:cNvSpPr/>
          <p:nvPr/>
        </p:nvSpPr>
        <p:spPr>
          <a:xfrm>
            <a:off x="1034772" y="3127057"/>
            <a:ext cx="2615565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Ключевые партнеры</a:t>
            </a:r>
            <a:endParaRPr lang="en-US" sz="1850" dirty="0"/>
          </a:p>
        </p:txBody>
      </p:sp>
      <p:sp>
        <p:nvSpPr>
          <p:cNvPr id="12" name="Text 2"/>
          <p:cNvSpPr/>
          <p:nvPr/>
        </p:nvSpPr>
        <p:spPr>
          <a:xfrm>
            <a:off x="837724" y="3548301"/>
            <a:ext cx="3009781" cy="651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МИРЭА и другие технические вузы</a:t>
            </a:r>
            <a:endParaRPr lang="en-US" sz="1600" dirty="0"/>
          </a:p>
        </p:txBody>
      </p:sp>
      <p:sp>
        <p:nvSpPr>
          <p:cNvPr id="13" name="Text 3"/>
          <p:cNvSpPr/>
          <p:nvPr/>
        </p:nvSpPr>
        <p:spPr>
          <a:xfrm>
            <a:off x="837724" y="4270534"/>
            <a:ext cx="3009781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Организаторы битв роботов</a:t>
            </a:r>
            <a:endParaRPr lang="en-US" sz="1600" dirty="0"/>
          </a:p>
        </p:txBody>
      </p:sp>
      <p:sp>
        <p:nvSpPr>
          <p:cNvPr id="14" name="Text 4"/>
          <p:cNvSpPr/>
          <p:nvPr/>
        </p:nvSpPr>
        <p:spPr>
          <a:xfrm>
            <a:off x="837724" y="4667250"/>
            <a:ext cx="3009781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IT-компании и спонсоры</a:t>
            </a:r>
            <a:endParaRPr lang="en-US" sz="1600" dirty="0"/>
          </a:p>
        </p:txBody>
      </p:sp>
      <p:sp>
        <p:nvSpPr>
          <p:cNvPr id="15" name="Text 5"/>
          <p:cNvSpPr/>
          <p:nvPr/>
        </p:nvSpPr>
        <p:spPr>
          <a:xfrm>
            <a:off x="4152662" y="1826419"/>
            <a:ext cx="3009900" cy="59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Ключевые виды деятельности</a:t>
            </a:r>
            <a:endParaRPr lang="en-US" sz="1850" dirty="0"/>
          </a:p>
        </p:txBody>
      </p:sp>
      <p:sp>
        <p:nvSpPr>
          <p:cNvPr id="16" name="Text 6"/>
          <p:cNvSpPr/>
          <p:nvPr/>
        </p:nvSpPr>
        <p:spPr>
          <a:xfrm>
            <a:off x="4152662" y="2546866"/>
            <a:ext cx="3009900" cy="651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Создание интерфейса платформы</a:t>
            </a:r>
            <a:endParaRPr lang="en-US" sz="1600" dirty="0"/>
          </a:p>
        </p:txBody>
      </p:sp>
      <p:sp>
        <p:nvSpPr>
          <p:cNvPr id="17" name="Text 7"/>
          <p:cNvSpPr/>
          <p:nvPr/>
        </p:nvSpPr>
        <p:spPr>
          <a:xfrm>
            <a:off x="4152662" y="3269099"/>
            <a:ext cx="3009900" cy="651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Разработка механик начисления баллов</a:t>
            </a:r>
            <a:endParaRPr lang="en-US" sz="1600" dirty="0"/>
          </a:p>
        </p:txBody>
      </p:sp>
      <p:sp>
        <p:nvSpPr>
          <p:cNvPr id="18" name="Text 8"/>
          <p:cNvSpPr/>
          <p:nvPr/>
        </p:nvSpPr>
        <p:spPr>
          <a:xfrm>
            <a:off x="7467719" y="1755219"/>
            <a:ext cx="3009900" cy="5984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Потребительские сегменты</a:t>
            </a:r>
            <a:endParaRPr lang="en-US" sz="1850" dirty="0"/>
          </a:p>
        </p:txBody>
      </p:sp>
      <p:sp>
        <p:nvSpPr>
          <p:cNvPr id="19" name="Text 9"/>
          <p:cNvSpPr/>
          <p:nvPr/>
        </p:nvSpPr>
        <p:spPr>
          <a:xfrm>
            <a:off x="7467719" y="2475667"/>
            <a:ext cx="3009900" cy="65103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Студенты технических вузов (18–25 лет)</a:t>
            </a:r>
            <a:endParaRPr lang="en-US" sz="1600" dirty="0"/>
          </a:p>
        </p:txBody>
      </p:sp>
      <p:sp>
        <p:nvSpPr>
          <p:cNvPr id="20" name="Text 10"/>
          <p:cNvSpPr/>
          <p:nvPr/>
        </p:nvSpPr>
        <p:spPr>
          <a:xfrm>
            <a:off x="7467719" y="3197900"/>
            <a:ext cx="3009900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Университеты</a:t>
            </a:r>
            <a:endParaRPr lang="en-US" sz="1600" dirty="0"/>
          </a:p>
        </p:txBody>
      </p:sp>
      <p:sp>
        <p:nvSpPr>
          <p:cNvPr id="21" name="Text 11"/>
          <p:cNvSpPr/>
          <p:nvPr/>
        </p:nvSpPr>
        <p:spPr>
          <a:xfrm>
            <a:off x="7467719" y="3594616"/>
            <a:ext cx="3009900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IT-компании</a:t>
            </a:r>
            <a:endParaRPr lang="en-US" sz="1600" dirty="0"/>
          </a:p>
        </p:txBody>
      </p:sp>
      <p:sp>
        <p:nvSpPr>
          <p:cNvPr id="22" name="Text 12"/>
          <p:cNvSpPr/>
          <p:nvPr/>
        </p:nvSpPr>
        <p:spPr>
          <a:xfrm>
            <a:off x="11090791" y="3452574"/>
            <a:ext cx="2393752" cy="29920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350"/>
              </a:lnSpc>
              <a:buNone/>
            </a:pPr>
            <a:r>
              <a:rPr lang="en-US" sz="18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Потоки доходов</a:t>
            </a:r>
            <a:endParaRPr lang="en-US" sz="1850" dirty="0"/>
          </a:p>
        </p:txBody>
      </p:sp>
      <p:sp>
        <p:nvSpPr>
          <p:cNvPr id="23" name="Text 13"/>
          <p:cNvSpPr/>
          <p:nvPr/>
        </p:nvSpPr>
        <p:spPr>
          <a:xfrm>
            <a:off x="10860405" y="3873818"/>
            <a:ext cx="2854523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Партнерская реклама</a:t>
            </a:r>
            <a:endParaRPr lang="en-US" sz="1600" dirty="0"/>
          </a:p>
        </p:txBody>
      </p:sp>
      <p:sp>
        <p:nvSpPr>
          <p:cNvPr id="24" name="Text 14"/>
          <p:cNvSpPr/>
          <p:nvPr/>
        </p:nvSpPr>
        <p:spPr>
          <a:xfrm>
            <a:off x="10860405" y="4270534"/>
            <a:ext cx="2854523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Спонсорство мероприятий</a:t>
            </a:r>
            <a:endParaRPr lang="en-US" sz="1600" dirty="0"/>
          </a:p>
        </p:txBody>
      </p:sp>
      <p:sp>
        <p:nvSpPr>
          <p:cNvPr id="25" name="Text 15"/>
          <p:cNvSpPr/>
          <p:nvPr/>
        </p:nvSpPr>
        <p:spPr>
          <a:xfrm>
            <a:off x="10860405" y="4667250"/>
            <a:ext cx="2854523" cy="3255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550"/>
              </a:lnSpc>
              <a:buSzPct val="100000"/>
              <a:buChar char="•"/>
            </a:pPr>
            <a:r>
              <a:rPr lang="en-US" sz="16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Продажа мерча</a:t>
            </a:r>
            <a:endParaRPr lang="en-US" sz="1600" dirty="0"/>
          </a:p>
        </p:txBody>
      </p:sp>
    </p:spTree>
  </p:cSld>
  <p:clrMapOvr>
    <a:masterClrMapping/>
  </p:clrMapOvr>
  <p:transition spd="slow">
    <p:wip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192054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Монетизация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837724" y="2568893"/>
            <a:ext cx="4304824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Подписка для университетов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837724" y="3416379"/>
            <a:ext cx="4304824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Платные услуги аналитики и интеграции</a:t>
            </a:r>
            <a:endParaRPr lang="en-US" sz="18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01521" y="2374821"/>
            <a:ext cx="3627358" cy="3627358"/>
          </a:xfrm>
          <a:prstGeom prst="rect">
            <a:avLst/>
          </a:prstGeom>
        </p:spPr>
      </p:pic>
      <p:sp>
        <p:nvSpPr>
          <p:cNvPr id="6" name="Shape 3"/>
          <p:cNvSpPr/>
          <p:nvPr/>
        </p:nvSpPr>
        <p:spPr>
          <a:xfrm>
            <a:off x="5781556" y="2654856"/>
            <a:ext cx="598408" cy="598408"/>
          </a:xfrm>
          <a:prstGeom prst="roundRect">
            <a:avLst>
              <a:gd name="adj" fmla="val 1526526"/>
            </a:avLst>
          </a:prstGeom>
          <a:solidFill>
            <a:srgbClr val="2B2952"/>
          </a:solidFill>
          <a:ln/>
        </p:spPr>
      </p:sp>
      <p:pic>
        <p:nvPicPr>
          <p:cNvPr id="7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946100" y="2785705"/>
            <a:ext cx="269200" cy="33659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9487853" y="2936319"/>
            <a:ext cx="2816185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Продажа мерча</a:t>
            </a:r>
            <a:endParaRPr lang="en-US" sz="2200" dirty="0"/>
          </a:p>
        </p:txBody>
      </p:sp>
      <p:sp>
        <p:nvSpPr>
          <p:cNvPr id="9" name="Text 5"/>
          <p:cNvSpPr/>
          <p:nvPr/>
        </p:nvSpPr>
        <p:spPr>
          <a:xfrm>
            <a:off x="9487853" y="3431857"/>
            <a:ext cx="4304824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Брендированная продукция</a:t>
            </a:r>
            <a:endParaRPr lang="en-US" sz="1850" dirty="0"/>
          </a:p>
        </p:txBody>
      </p:sp>
      <p:pic>
        <p:nvPicPr>
          <p:cNvPr id="10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01521" y="2374821"/>
            <a:ext cx="3627358" cy="3627358"/>
          </a:xfrm>
          <a:prstGeom prst="rect">
            <a:avLst/>
          </a:prstGeom>
        </p:spPr>
      </p:pic>
      <p:sp>
        <p:nvSpPr>
          <p:cNvPr id="11" name="Shape 6"/>
          <p:cNvSpPr/>
          <p:nvPr/>
        </p:nvSpPr>
        <p:spPr>
          <a:xfrm>
            <a:off x="8250317" y="2654856"/>
            <a:ext cx="598408" cy="598408"/>
          </a:xfrm>
          <a:prstGeom prst="roundRect">
            <a:avLst>
              <a:gd name="adj" fmla="val 1526526"/>
            </a:avLst>
          </a:prstGeom>
          <a:solidFill>
            <a:srgbClr val="2B2952"/>
          </a:solidFill>
          <a:ln/>
        </p:spPr>
      </p:sp>
      <p:pic>
        <p:nvPicPr>
          <p:cNvPr id="12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14861" y="2785705"/>
            <a:ext cx="269200" cy="33659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9487853" y="4929545"/>
            <a:ext cx="3988713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Спонсорство мероприятий</a:t>
            </a:r>
            <a:endParaRPr lang="en-US" sz="2200" dirty="0"/>
          </a:p>
        </p:txBody>
      </p:sp>
      <p:sp>
        <p:nvSpPr>
          <p:cNvPr id="14" name="Text 8"/>
          <p:cNvSpPr/>
          <p:nvPr/>
        </p:nvSpPr>
        <p:spPr>
          <a:xfrm>
            <a:off x="9487853" y="5425083"/>
            <a:ext cx="4304824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Поддержка организаторов событий</a:t>
            </a:r>
            <a:endParaRPr lang="en-US" sz="1850" dirty="0"/>
          </a:p>
        </p:txBody>
      </p:sp>
      <p:pic>
        <p:nvPicPr>
          <p:cNvPr id="15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501521" y="2374821"/>
            <a:ext cx="3627358" cy="3627358"/>
          </a:xfrm>
          <a:prstGeom prst="rect">
            <a:avLst/>
          </a:prstGeom>
        </p:spPr>
      </p:pic>
      <p:sp>
        <p:nvSpPr>
          <p:cNvPr id="16" name="Shape 9"/>
          <p:cNvSpPr/>
          <p:nvPr/>
        </p:nvSpPr>
        <p:spPr>
          <a:xfrm>
            <a:off x="8250317" y="5123617"/>
            <a:ext cx="598408" cy="598408"/>
          </a:xfrm>
          <a:prstGeom prst="roundRect">
            <a:avLst>
              <a:gd name="adj" fmla="val 1526526"/>
            </a:avLst>
          </a:prstGeom>
          <a:solidFill>
            <a:srgbClr val="2B2952"/>
          </a:solidFill>
          <a:ln/>
        </p:spPr>
      </p:sp>
      <p:pic>
        <p:nvPicPr>
          <p:cNvPr id="17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414861" y="5254466"/>
            <a:ext cx="269200" cy="336590"/>
          </a:xfrm>
          <a:prstGeom prst="rect">
            <a:avLst/>
          </a:prstGeom>
        </p:spPr>
      </p:pic>
      <p:sp>
        <p:nvSpPr>
          <p:cNvPr id="18" name="Text 10"/>
          <p:cNvSpPr/>
          <p:nvPr/>
        </p:nvSpPr>
        <p:spPr>
          <a:xfrm>
            <a:off x="1896666" y="4929545"/>
            <a:ext cx="3245882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Партнерская реклама</a:t>
            </a:r>
            <a:endParaRPr lang="en-US" sz="2200" dirty="0"/>
          </a:p>
        </p:txBody>
      </p:sp>
      <p:sp>
        <p:nvSpPr>
          <p:cNvPr id="19" name="Text 11"/>
          <p:cNvSpPr/>
          <p:nvPr/>
        </p:nvSpPr>
        <p:spPr>
          <a:xfrm>
            <a:off x="837724" y="5425083"/>
            <a:ext cx="4304824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Размещение рекламы IT-компаний</a:t>
            </a:r>
            <a:endParaRPr lang="en-US" sz="1850" dirty="0"/>
          </a:p>
        </p:txBody>
      </p:sp>
      <p:pic>
        <p:nvPicPr>
          <p:cNvPr id="20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501521" y="2374821"/>
            <a:ext cx="3627358" cy="3627358"/>
          </a:xfrm>
          <a:prstGeom prst="rect">
            <a:avLst/>
          </a:prstGeom>
        </p:spPr>
      </p:pic>
      <p:sp>
        <p:nvSpPr>
          <p:cNvPr id="21" name="Shape 12"/>
          <p:cNvSpPr/>
          <p:nvPr/>
        </p:nvSpPr>
        <p:spPr>
          <a:xfrm>
            <a:off x="5781556" y="5123617"/>
            <a:ext cx="598408" cy="598408"/>
          </a:xfrm>
          <a:prstGeom prst="roundRect">
            <a:avLst>
              <a:gd name="adj" fmla="val 1526526"/>
            </a:avLst>
          </a:prstGeom>
          <a:solidFill>
            <a:srgbClr val="2B2952"/>
          </a:solidFill>
          <a:ln/>
        </p:spPr>
      </p:sp>
      <p:pic>
        <p:nvPicPr>
          <p:cNvPr id="22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946100" y="5254466"/>
            <a:ext cx="269200" cy="336590"/>
          </a:xfrm>
          <a:prstGeom prst="rect">
            <a:avLst/>
          </a:prstGeom>
        </p:spPr>
      </p:pic>
      <p:sp>
        <p:nvSpPr>
          <p:cNvPr id="23" name="Text 13"/>
          <p:cNvSpPr/>
          <p:nvPr/>
        </p:nvSpPr>
        <p:spPr>
          <a:xfrm>
            <a:off x="837724" y="6271379"/>
            <a:ext cx="12954952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MVP тестирование с базовой функциональностью для анализа поведения пользователей и эффективности рекламы.</a:t>
            </a:r>
            <a:endParaRPr lang="en-US" sz="1850" dirty="0"/>
          </a:p>
        </p:txBody>
      </p:sp>
    </p:spTree>
  </p:cSld>
  <p:clrMapOvr>
    <a:masterClrMapping/>
  </p:clrMapOvr>
  <p:transition spd="slow">
    <p:wip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86889" y="684133"/>
            <a:ext cx="7256502" cy="52804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4150"/>
              </a:lnSpc>
              <a:buNone/>
            </a:pPr>
            <a:r>
              <a:rPr lang="en-US" sz="33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Финансовый план (3–6 месяцев)</a:t>
            </a:r>
            <a:endParaRPr lang="en-US" sz="33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57093" y="1571149"/>
            <a:ext cx="9716214" cy="4902398"/>
          </a:xfrm>
          <a:prstGeom prst="rect">
            <a:avLst/>
          </a:prstGeom>
        </p:spPr>
      </p:pic>
      <p:sp>
        <p:nvSpPr>
          <p:cNvPr id="4" name="Shape 1"/>
          <p:cNvSpPr/>
          <p:nvPr/>
        </p:nvSpPr>
        <p:spPr>
          <a:xfrm>
            <a:off x="4715232" y="6473547"/>
            <a:ext cx="179427" cy="179427"/>
          </a:xfrm>
          <a:prstGeom prst="roundRect">
            <a:avLst>
              <a:gd name="adj" fmla="val 10192"/>
            </a:avLst>
          </a:prstGeom>
          <a:solidFill>
            <a:srgbClr val="5B33FF"/>
          </a:solidFill>
          <a:ln/>
        </p:spPr>
      </p:sp>
      <p:sp>
        <p:nvSpPr>
          <p:cNvPr id="5" name="Text 2"/>
          <p:cNvSpPr/>
          <p:nvPr/>
        </p:nvSpPr>
        <p:spPr>
          <a:xfrm>
            <a:off x="4955619" y="6473547"/>
            <a:ext cx="638532" cy="179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Доходы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6834664" y="6473547"/>
            <a:ext cx="179427" cy="179427"/>
          </a:xfrm>
          <a:prstGeom prst="roundRect">
            <a:avLst>
              <a:gd name="adj" fmla="val 10192"/>
            </a:avLst>
          </a:prstGeom>
          <a:solidFill>
            <a:srgbClr val="8B6FFF"/>
          </a:solidFill>
          <a:ln/>
        </p:spPr>
      </p:sp>
      <p:sp>
        <p:nvSpPr>
          <p:cNvPr id="7" name="Text 4"/>
          <p:cNvSpPr/>
          <p:nvPr/>
        </p:nvSpPr>
        <p:spPr>
          <a:xfrm>
            <a:off x="7075051" y="6473547"/>
            <a:ext cx="720447" cy="179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Расходы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9036129" y="6473547"/>
            <a:ext cx="179427" cy="179427"/>
          </a:xfrm>
          <a:prstGeom prst="roundRect">
            <a:avLst>
              <a:gd name="adj" fmla="val 10192"/>
            </a:avLst>
          </a:prstGeom>
          <a:solidFill>
            <a:srgbClr val="BBAAFF"/>
          </a:solidFill>
          <a:ln/>
        </p:spPr>
      </p:sp>
      <p:sp>
        <p:nvSpPr>
          <p:cNvPr id="9" name="Text 6"/>
          <p:cNvSpPr/>
          <p:nvPr/>
        </p:nvSpPr>
        <p:spPr>
          <a:xfrm>
            <a:off x="9276517" y="6473547"/>
            <a:ext cx="1363623" cy="17942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1400"/>
              </a:lnSpc>
              <a:buNone/>
            </a:pPr>
            <a:r>
              <a:rPr lang="en-US" sz="140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Чистая прибыль</a:t>
            </a:r>
            <a:endParaRPr lang="en-US" sz="1400" dirty="0"/>
          </a:p>
        </p:txBody>
      </p:sp>
      <p:sp>
        <p:nvSpPr>
          <p:cNvPr id="10" name="Text 7"/>
          <p:cNvSpPr/>
          <p:nvPr/>
        </p:nvSpPr>
        <p:spPr>
          <a:xfrm>
            <a:off x="3563779" y="7281386"/>
            <a:ext cx="7502723" cy="26396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050"/>
              </a:lnSpc>
              <a:buNone/>
            </a:pPr>
            <a:r>
              <a:rPr lang="en-US" sz="165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Общая потребность в инвестициях на 6 месяцев: 1 000 000 рублей</a:t>
            </a:r>
            <a:endParaRPr lang="en-US" sz="1650" dirty="0"/>
          </a:p>
        </p:txBody>
      </p:sp>
    </p:spTree>
  </p:cSld>
  <p:clrMapOvr>
    <a:masterClrMapping/>
  </p:clrMapOvr>
  <p:transition spd="slow">
    <p:wipe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14630400" cy="82296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A33">
              <a:alpha val="80000"/>
            </a:srgbClr>
          </a:solidFill>
          <a:ln/>
        </p:spPr>
      </p:sp>
      <p:sp>
        <p:nvSpPr>
          <p:cNvPr id="4" name="Text 1"/>
          <p:cNvSpPr/>
          <p:nvPr/>
        </p:nvSpPr>
        <p:spPr>
          <a:xfrm>
            <a:off x="3831550" y="1696403"/>
            <a:ext cx="6967299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Вопросы к обсуждению</a:t>
            </a:r>
            <a:endParaRPr lang="en-US" sz="4400" dirty="0"/>
          </a:p>
        </p:txBody>
      </p:sp>
      <p:sp>
        <p:nvSpPr>
          <p:cNvPr id="5" name="Shape 2"/>
          <p:cNvSpPr/>
          <p:nvPr/>
        </p:nvSpPr>
        <p:spPr>
          <a:xfrm>
            <a:off x="837724" y="3028593"/>
            <a:ext cx="12954952" cy="30480"/>
          </a:xfrm>
          <a:prstGeom prst="roundRect">
            <a:avLst>
              <a:gd name="adj" fmla="val 117806"/>
            </a:avLst>
          </a:prstGeom>
          <a:solidFill>
            <a:srgbClr val="44426B"/>
          </a:solidFill>
          <a:ln/>
        </p:spPr>
      </p:sp>
      <p:sp>
        <p:nvSpPr>
          <p:cNvPr id="6" name="Shape 3"/>
          <p:cNvSpPr/>
          <p:nvPr/>
        </p:nvSpPr>
        <p:spPr>
          <a:xfrm>
            <a:off x="4001214" y="3028533"/>
            <a:ext cx="30480" cy="718066"/>
          </a:xfrm>
          <a:prstGeom prst="roundRect">
            <a:avLst>
              <a:gd name="adj" fmla="val 117806"/>
            </a:avLst>
          </a:prstGeom>
          <a:solidFill>
            <a:srgbClr val="44426B"/>
          </a:solidFill>
          <a:ln/>
        </p:spPr>
      </p:sp>
      <p:sp>
        <p:nvSpPr>
          <p:cNvPr id="7" name="Shape 4"/>
          <p:cNvSpPr/>
          <p:nvPr/>
        </p:nvSpPr>
        <p:spPr>
          <a:xfrm>
            <a:off x="3747254" y="2759333"/>
            <a:ext cx="538520" cy="538520"/>
          </a:xfrm>
          <a:prstGeom prst="roundRect">
            <a:avLst>
              <a:gd name="adj" fmla="val 6668"/>
            </a:avLst>
          </a:prstGeom>
          <a:solidFill>
            <a:srgbClr val="2B2952"/>
          </a:solidFill>
          <a:ln/>
        </p:spPr>
      </p:sp>
      <p:pic>
        <p:nvPicPr>
          <p:cNvPr id="8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47505" y="2817316"/>
            <a:ext cx="337899" cy="422434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1077039" y="3986213"/>
            <a:ext cx="5879187" cy="70389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Реалистичность оптимистичного сценария</a:t>
            </a:r>
            <a:endParaRPr lang="en-US" sz="2200" dirty="0"/>
          </a:p>
        </p:txBody>
      </p:sp>
      <p:sp>
        <p:nvSpPr>
          <p:cNvPr id="10" name="Text 6"/>
          <p:cNvSpPr/>
          <p:nvPr/>
        </p:nvSpPr>
        <p:spPr>
          <a:xfrm>
            <a:off x="1077039" y="4833699"/>
            <a:ext cx="587918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Привлечение 10% студентов МИРЭА (≈ 2 000 человек)</a:t>
            </a:r>
            <a:endParaRPr lang="en-US" sz="1850" dirty="0"/>
          </a:p>
        </p:txBody>
      </p:sp>
      <p:sp>
        <p:nvSpPr>
          <p:cNvPr id="11" name="Text 7"/>
          <p:cNvSpPr/>
          <p:nvPr/>
        </p:nvSpPr>
        <p:spPr>
          <a:xfrm>
            <a:off x="1077039" y="5683448"/>
            <a:ext cx="58791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Договоры с 3–5 IT-компаниями на рекламу</a:t>
            </a:r>
            <a:endParaRPr lang="en-US" sz="1850" dirty="0"/>
          </a:p>
        </p:txBody>
      </p:sp>
      <p:sp>
        <p:nvSpPr>
          <p:cNvPr id="12" name="Text 8"/>
          <p:cNvSpPr/>
          <p:nvPr/>
        </p:nvSpPr>
        <p:spPr>
          <a:xfrm>
            <a:off x="1077039" y="6150173"/>
            <a:ext cx="58791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Интеграция с университетом</a:t>
            </a:r>
            <a:endParaRPr lang="en-US" sz="1850" dirty="0"/>
          </a:p>
        </p:txBody>
      </p:sp>
      <p:sp>
        <p:nvSpPr>
          <p:cNvPr id="13" name="Shape 9"/>
          <p:cNvSpPr/>
          <p:nvPr/>
        </p:nvSpPr>
        <p:spPr>
          <a:xfrm>
            <a:off x="10598348" y="3028533"/>
            <a:ext cx="30480" cy="718066"/>
          </a:xfrm>
          <a:prstGeom prst="roundRect">
            <a:avLst>
              <a:gd name="adj" fmla="val 117806"/>
            </a:avLst>
          </a:prstGeom>
          <a:solidFill>
            <a:srgbClr val="44426B"/>
          </a:solidFill>
          <a:ln/>
        </p:spPr>
      </p:sp>
      <p:sp>
        <p:nvSpPr>
          <p:cNvPr id="14" name="Shape 10"/>
          <p:cNvSpPr/>
          <p:nvPr/>
        </p:nvSpPr>
        <p:spPr>
          <a:xfrm>
            <a:off x="10344388" y="2759333"/>
            <a:ext cx="538520" cy="538520"/>
          </a:xfrm>
          <a:prstGeom prst="roundRect">
            <a:avLst>
              <a:gd name="adj" fmla="val 6668"/>
            </a:avLst>
          </a:prstGeom>
          <a:solidFill>
            <a:srgbClr val="2B2952"/>
          </a:solidFill>
          <a:ln/>
        </p:spPr>
      </p:sp>
      <p:pic>
        <p:nvPicPr>
          <p:cNvPr id="15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44639" y="2817316"/>
            <a:ext cx="337899" cy="42243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9094708" y="3986213"/>
            <a:ext cx="3037999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Выбор первой ниши</a:t>
            </a:r>
            <a:endParaRPr lang="en-US" sz="2200" dirty="0"/>
          </a:p>
        </p:txBody>
      </p:sp>
      <p:sp>
        <p:nvSpPr>
          <p:cNvPr id="17" name="Text 12"/>
          <p:cNvSpPr/>
          <p:nvPr/>
        </p:nvSpPr>
        <p:spPr>
          <a:xfrm>
            <a:off x="7674173" y="4481751"/>
            <a:ext cx="58791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МИРЭА и другие технические вузы Москвы</a:t>
            </a:r>
            <a:endParaRPr lang="en-US" sz="1850" dirty="0"/>
          </a:p>
        </p:txBody>
      </p:sp>
      <p:sp>
        <p:nvSpPr>
          <p:cNvPr id="18" name="Text 13"/>
          <p:cNvSpPr/>
          <p:nvPr/>
        </p:nvSpPr>
        <p:spPr>
          <a:xfrm>
            <a:off x="7674173" y="4948476"/>
            <a:ext cx="5879187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Актуальность проблемы низкой активности</a:t>
            </a:r>
            <a:endParaRPr lang="en-US" sz="1850" dirty="0"/>
          </a:p>
        </p:txBody>
      </p:sp>
      <p:sp>
        <p:nvSpPr>
          <p:cNvPr id="19" name="Text 14"/>
          <p:cNvSpPr/>
          <p:nvPr/>
        </p:nvSpPr>
        <p:spPr>
          <a:xfrm>
            <a:off x="7674173" y="5415201"/>
            <a:ext cx="5879187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 algn="l">
              <a:lnSpc>
                <a:spcPts val="3000"/>
              </a:lnSpc>
              <a:buSzPct val="100000"/>
              <a:buChar char="•"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Быстрая интеграция с существующими системами</a:t>
            </a:r>
            <a:endParaRPr lang="en-US" sz="1850" dirty="0"/>
          </a:p>
        </p:txBody>
      </p:sp>
    </p:spTree>
  </p:cSld>
  <p:clrMapOvr>
    <a:masterClrMapping/>
  </p:clrMapOvr>
  <p:transition spd="slow">
    <p:wipe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837724" y="1176457"/>
            <a:ext cx="5632490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Заключение</a:t>
            </a:r>
            <a:endParaRPr lang="en-US" sz="4400" dirty="0"/>
          </a:p>
        </p:txBody>
      </p:sp>
      <p:sp>
        <p:nvSpPr>
          <p:cNvPr id="3" name="Shape 1"/>
          <p:cNvSpPr/>
          <p:nvPr/>
        </p:nvSpPr>
        <p:spPr>
          <a:xfrm>
            <a:off x="837724" y="2359223"/>
            <a:ext cx="2159079" cy="1357193"/>
          </a:xfrm>
          <a:prstGeom prst="roundRect">
            <a:avLst>
              <a:gd name="adj" fmla="val 2646"/>
            </a:avLst>
          </a:prstGeom>
          <a:solidFill>
            <a:srgbClr val="2B2952"/>
          </a:solidFill>
          <a:ln/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48909" y="2827377"/>
            <a:ext cx="336590" cy="420767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3236119" y="2598539"/>
            <a:ext cx="4139803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Повышение вовлеченности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3236119" y="3094077"/>
            <a:ext cx="5750481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Активизация студентов в внеучебной деятельности</a:t>
            </a:r>
            <a:endParaRPr lang="en-US" sz="1850" dirty="0"/>
          </a:p>
        </p:txBody>
      </p:sp>
      <p:sp>
        <p:nvSpPr>
          <p:cNvPr id="7" name="Shape 4"/>
          <p:cNvSpPr/>
          <p:nvPr/>
        </p:nvSpPr>
        <p:spPr>
          <a:xfrm>
            <a:off x="3116461" y="3701177"/>
            <a:ext cx="10556558" cy="15240"/>
          </a:xfrm>
          <a:prstGeom prst="roundRect">
            <a:avLst>
              <a:gd name="adj" fmla="val 235611"/>
            </a:avLst>
          </a:prstGeom>
          <a:solidFill>
            <a:srgbClr val="44426B"/>
          </a:solidFill>
          <a:ln/>
        </p:spPr>
      </p:sp>
      <p:sp>
        <p:nvSpPr>
          <p:cNvPr id="8" name="Shape 5"/>
          <p:cNvSpPr/>
          <p:nvPr/>
        </p:nvSpPr>
        <p:spPr>
          <a:xfrm>
            <a:off x="837724" y="3836075"/>
            <a:ext cx="4318278" cy="1357193"/>
          </a:xfrm>
          <a:prstGeom prst="roundRect">
            <a:avLst>
              <a:gd name="adj" fmla="val 2646"/>
            </a:avLst>
          </a:prstGeom>
          <a:solidFill>
            <a:srgbClr val="2B2952"/>
          </a:solidFill>
          <a:ln/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828568" y="4304228"/>
            <a:ext cx="336590" cy="420767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5395317" y="4075390"/>
            <a:ext cx="3092648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Новый рынок ставок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5395317" y="4570928"/>
            <a:ext cx="6455688" cy="38302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Развитие рынка ставок на технологические соревнования</a:t>
            </a:r>
            <a:endParaRPr lang="en-US" sz="1850" dirty="0"/>
          </a:p>
        </p:txBody>
      </p:sp>
      <p:sp>
        <p:nvSpPr>
          <p:cNvPr id="12" name="Shape 8"/>
          <p:cNvSpPr/>
          <p:nvPr/>
        </p:nvSpPr>
        <p:spPr>
          <a:xfrm>
            <a:off x="5275659" y="5178028"/>
            <a:ext cx="8397359" cy="15240"/>
          </a:xfrm>
          <a:prstGeom prst="roundRect">
            <a:avLst>
              <a:gd name="adj" fmla="val 235611"/>
            </a:avLst>
          </a:prstGeom>
          <a:solidFill>
            <a:srgbClr val="44426B"/>
          </a:solidFill>
          <a:ln/>
        </p:spPr>
      </p:sp>
      <p:sp>
        <p:nvSpPr>
          <p:cNvPr id="13" name="Shape 9"/>
          <p:cNvSpPr/>
          <p:nvPr/>
        </p:nvSpPr>
        <p:spPr>
          <a:xfrm>
            <a:off x="837724" y="5312926"/>
            <a:ext cx="6477476" cy="1740218"/>
          </a:xfrm>
          <a:prstGeom prst="roundRect">
            <a:avLst>
              <a:gd name="adj" fmla="val 2063"/>
            </a:avLst>
          </a:prstGeom>
          <a:solidFill>
            <a:srgbClr val="2B2952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08107" y="5972651"/>
            <a:ext cx="336590" cy="420767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7554516" y="5552242"/>
            <a:ext cx="3069074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Новые возможности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7554516" y="6047780"/>
            <a:ext cx="5998845" cy="76604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Инновационные решения для студентов и университетов</a:t>
            </a:r>
            <a:endParaRPr lang="en-US" sz="1850" dirty="0"/>
          </a:p>
        </p:txBody>
      </p:sp>
    </p:spTree>
  </p:cSld>
  <p:clrMapOvr>
    <a:masterClrMapping/>
  </p:clrMapOvr>
  <p:transition spd="slow">
    <p:wip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350663" y="702231"/>
            <a:ext cx="5928955" cy="70401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55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Контакты для связи</a:t>
            </a:r>
            <a:endParaRPr lang="en-US" sz="4400" dirty="0"/>
          </a:p>
        </p:txBody>
      </p:sp>
      <p:pic>
        <p:nvPicPr>
          <p:cNvPr id="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322921" y="1884997"/>
            <a:ext cx="5984438" cy="3698557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883950" y="5882759"/>
            <a:ext cx="2862382" cy="35194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ct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D9E1FF"/>
                </a:solidFill>
                <a:latin typeface="Syne Bold" pitchFamily="34" charset="0"/>
                <a:ea typeface="Syne Bold" pitchFamily="34" charset="-122"/>
                <a:cs typeface="Syne Bold" pitchFamily="34" charset="-120"/>
              </a:rPr>
              <a:t>Электронная почта</a:t>
            </a:r>
            <a:endParaRPr lang="en-US" sz="2200" dirty="0"/>
          </a:p>
        </p:txBody>
      </p:sp>
      <p:sp>
        <p:nvSpPr>
          <p:cNvPr id="5" name="Text 2"/>
          <p:cNvSpPr/>
          <p:nvPr/>
        </p:nvSpPr>
        <p:spPr>
          <a:xfrm>
            <a:off x="837724" y="6378297"/>
            <a:ext cx="12954952" cy="11490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3000"/>
              </a:lnSpc>
              <a:buNone/>
            </a:pPr>
            <a:r>
              <a:rPr lang="en-US" sz="1850" dirty="0">
                <a:solidFill>
                  <a:srgbClr val="D9E1FF"/>
                </a:solidFill>
                <a:latin typeface="Arimo" pitchFamily="34" charset="0"/>
                <a:ea typeface="Arimo" pitchFamily="34" charset="-122"/>
                <a:cs typeface="Arimo" pitchFamily="34" charset="-120"/>
              </a:rPr>
              <a:t>mari.vas.04@mail.ru
8 (985) 905-22-55
</a:t>
            </a:r>
            <a:endParaRPr lang="en-US" sz="1850" dirty="0"/>
          </a:p>
        </p:txBody>
      </p:sp>
    </p:spTree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>
        <p14:flash/>
      </p:transition>
    </mc:Choice>
    <mc:Fallback>
      <p:transition spd="slow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15</TotalTime>
  <Words>367</Words>
  <Application>Microsoft Office PowerPoint</Application>
  <PresentationFormat>Произвольный</PresentationFormat>
  <Paragraphs>86</Paragraphs>
  <Slides>10</Slides>
  <Notes>10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3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10</vt:i4>
      </vt:variant>
    </vt:vector>
  </HeadingPairs>
  <TitlesOfParts>
    <vt:vector size="14" baseType="lpstr">
      <vt:lpstr>Syne Bold</vt:lpstr>
      <vt:lpstr>Arial</vt:lpstr>
      <vt:lpstr>Arimo</vt:lpstr>
      <vt:lpstr>Office Theme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mary vasil</cp:lastModifiedBy>
  <cp:revision>2</cp:revision>
  <dcterms:created xsi:type="dcterms:W3CDTF">2025-04-11T21:02:32Z</dcterms:created>
  <dcterms:modified xsi:type="dcterms:W3CDTF">2025-04-11T21:18:41Z</dcterms:modified>
</cp:coreProperties>
</file>