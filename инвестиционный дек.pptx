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0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25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1798558"/>
            <a:ext cx="567059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CodHammer
Инвесторский блок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451390" y="3556278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451390" y="4174331"/>
            <a:ext cx="93852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Цифровая платформа для студентов, университетов и организаторов IT-мероприятий, объединяющая геймификацию, мотивацию и аналитику активности.
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451390" y="5705237"/>
            <a:ext cx="93852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CodHammer предлагает уникальные механики вовлечения (ставки, эксклюзивный мерч, баллы), а также инструменты аналитики для вузов.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08990" y="727829"/>
            <a:ext cx="57276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Краткая характеристика проекта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8108990" y="2133957"/>
            <a:ext cx="5727621" cy="1060728"/>
          </a:xfrm>
          <a:prstGeom prst="roundRect">
            <a:avLst>
              <a:gd name="adj" fmla="val 7185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98061" y="23230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72B4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CodHammer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298061" y="2715339"/>
            <a:ext cx="53494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72B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Геймификация студенческой активности, баллы и мерч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08990" y="3376136"/>
            <a:ext cx="5727621" cy="1351002"/>
          </a:xfrm>
          <a:prstGeom prst="roundRect">
            <a:avLst>
              <a:gd name="adj" fmla="val 5641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98061" y="356520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298061" y="3957518"/>
            <a:ext cx="534947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Повышение вовлечённости студентов и расширение аудитории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08990" y="4908590"/>
            <a:ext cx="5727621" cy="1351002"/>
          </a:xfrm>
          <a:prstGeom prst="roundRect">
            <a:avLst>
              <a:gd name="adj" fmla="val 5641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8061" y="509766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Старт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298061" y="5489972"/>
            <a:ext cx="534947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 в 3 московских вузах, партнёрство с Битвой Роботов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08990" y="6441043"/>
            <a:ext cx="5727621" cy="1060728"/>
          </a:xfrm>
          <a:prstGeom prst="roundRect">
            <a:avLst>
              <a:gd name="adj" fmla="val 7185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8061" y="663011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Стадия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298061" y="7022425"/>
            <a:ext cx="53494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партнёрства, запуск пилота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7118B96-2DB0-B071-1EB7-13EA2AD13E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93" r="29021"/>
          <a:stretch/>
        </p:blipFill>
        <p:spPr>
          <a:xfrm>
            <a:off x="0" y="0"/>
            <a:ext cx="760582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954530"/>
            <a:ext cx="8337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Портрет целевого инвестора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230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Тип инвестора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1142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Бизнес-ангелы
(Дмитрий Гришин)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61652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Акселераторы(Startup Village, Techstars Moscow)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84532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EdTech-фонды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200406" y="3230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Инвестиции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200406" y="381142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1,5–2 млн рублей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200406" y="437840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Стадия Seed (MVP, первые партнёрства, запуск в 3 вузах)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607022" y="3230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Компетенции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607022" y="381142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 в EdTech, связи с вузами, маркетинг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607022" y="4741307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Экспертиза в масштабировании B2B2C-платформ.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013638" y="3230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География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013638" y="381142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Москва и Россия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1013638" y="4401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Портфель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013638" y="498228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 в образовании, студенческих сервисах, геймификации.</a:t>
            </a:r>
            <a:endParaRPr lang="en-US" sz="17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5563"/>
            <a:ext cx="5710595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Оффер для инвестора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639610"/>
            <a:ext cx="612338" cy="6123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45602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Доля компании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280190" y="2897267"/>
            <a:ext cx="36505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 за 1,5–2 млн рублей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916" y="1639610"/>
            <a:ext cx="612338" cy="6123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85916" y="2456021"/>
            <a:ext cx="322826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Условия сотрудничества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0185916" y="2897267"/>
            <a:ext cx="365069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Стратегические сессии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0185916" y="3295412"/>
            <a:ext cx="365069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 к метрикам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185916" y="3693557"/>
            <a:ext cx="365069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Поддержка масштабирования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428530"/>
            <a:ext cx="612338" cy="6123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0190" y="5244941"/>
            <a:ext cx="318468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Обязательства команды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6280190" y="5686187"/>
            <a:ext cx="36505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в 3 вузах за 6 месяцев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280190" y="6084332"/>
            <a:ext cx="36505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1 000+ активных пользователей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280190" y="6482477"/>
            <a:ext cx="36505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партнёрства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280190" y="6880622"/>
            <a:ext cx="3650575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Самоокупаемость к 6-му месяцу</a:t>
            </a:r>
            <a:endParaRPr lang="en-US" sz="16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070" y="619720"/>
            <a:ext cx="7566660" cy="101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Финансовый прогноз и причины инвестировать 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275070" y="1836420"/>
            <a:ext cx="756666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Рекламные табло: 300 000 руб./мес. только в 3 активных месяца (сентябрь, октябрь, март).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75070" y="2426494"/>
            <a:ext cx="756666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Сервер: 1 000 руб./мес.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75070" y="2757011"/>
            <a:ext cx="756666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Логистика мерча: 10 000 руб./мес.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75070" y="3087529"/>
            <a:ext cx="756666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Прочие расходы: 10 000 руб./мес.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75070" y="3418046"/>
            <a:ext cx="756666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Зарплата (4 чел.): 320 000 руб./мес.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75070" y="3905726"/>
            <a:ext cx="7566660" cy="3707368"/>
          </a:xfrm>
          <a:prstGeom prst="roundRect">
            <a:avLst>
              <a:gd name="adj" fmla="val 229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82690" y="3913346"/>
            <a:ext cx="7551420" cy="58316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85453" y="4042648"/>
            <a:ext cx="147851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Месяц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377118" y="4042648"/>
            <a:ext cx="147470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Доходы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264973" y="4042648"/>
            <a:ext cx="147470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152828" y="4042648"/>
            <a:ext cx="147851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Прибыль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82690" y="4496514"/>
            <a:ext cx="7551420" cy="5181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85453" y="462581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377118" y="462581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264973" y="462581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2152828" y="462581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-591 000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82690" y="5014674"/>
            <a:ext cx="7551420" cy="5181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485453" y="514397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377118" y="514397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100 000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264973" y="514397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2152828" y="514397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-241 000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82690" y="5532834"/>
            <a:ext cx="7551420" cy="5181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485453" y="566213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377118" y="566213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250 000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264973" y="566213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2152828" y="566213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-391 000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82690" y="6050994"/>
            <a:ext cx="7551420" cy="5181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485453" y="618029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377118" y="618029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400 000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0264973" y="618029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2152828" y="618029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59 000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82690" y="6569154"/>
            <a:ext cx="7551420" cy="5181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485453" y="669845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8377118" y="669845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600 000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264973" y="669845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2152828" y="669845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-41 000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282690" y="7087314"/>
            <a:ext cx="7551420" cy="5181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485453" y="721661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377118" y="721661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700 000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10264973" y="7216616"/>
            <a:ext cx="147470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12152828" y="7216616"/>
            <a:ext cx="147851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DF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359 000</a:t>
            </a:r>
            <a:endParaRPr lang="en-US" sz="1250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8990" y="694015"/>
            <a:ext cx="57276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Положительный сценарий развития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90" y="2363986"/>
            <a:ext cx="1077397" cy="129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9522" y="25793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Реклама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9509522" y="3045143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Табло арендуются 3 месяца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990" y="3656886"/>
            <a:ext cx="1077397" cy="129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09522" y="38722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аудитории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9509522" y="4338042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Высокий спрос на баллы и мерч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990" y="4949785"/>
            <a:ext cx="1077397" cy="129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09522" y="51651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Партнёрства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509522" y="5630942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партнёры и IT-компании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8990" y="6242685"/>
            <a:ext cx="1077397" cy="129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09522" y="64580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Финансы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9509522" y="6923842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Прибыль ~350 000 руб. к 6-му месяцу</a:t>
            </a:r>
            <a:endParaRPr lang="en-US" sz="16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8641" y="614601"/>
            <a:ext cx="7579519" cy="132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Нейтральный сценарий развития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641" y="2260163"/>
            <a:ext cx="3789759" cy="8492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0929" y="3427928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Реклама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480929" y="3887033"/>
            <a:ext cx="336518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Табло арендуются 2 месяца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2260163"/>
            <a:ext cx="3789759" cy="8492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70688" y="3427928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аудитории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70688" y="3887033"/>
            <a:ext cx="3365183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Постепенный рост аудитории и продаж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641" y="5096947"/>
            <a:ext cx="3789759" cy="8492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80929" y="6264712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Партнёрства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480929" y="6723817"/>
            <a:ext cx="3365183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Развиваются, но не все гипотезы подтверждаются.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5096947"/>
            <a:ext cx="3789759" cy="8492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70688" y="6264712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Финансы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270688" y="6723817"/>
            <a:ext cx="3365183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Самоокупаемость, прибыль ~160 000 руб</a:t>
            </a:r>
            <a:endParaRPr lang="en-US" sz="16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4015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Негативный сценарий развития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363986"/>
            <a:ext cx="1077397" cy="129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80722" y="25793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Реклама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680722" y="3045143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Табло арендуются 1 месяц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656886"/>
            <a:ext cx="1077397" cy="129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80722" y="38722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аудитории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680722" y="4338042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Медленное привлечение аудитории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949785"/>
            <a:ext cx="1077397" cy="129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80722" y="51651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Партнёрства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680722" y="5630942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все реализованы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242685"/>
            <a:ext cx="1077397" cy="129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80722" y="64580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Финансы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680722" y="6923842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Убыток ~140 000 руб. к 6-му месяцу</a:t>
            </a:r>
            <a:endParaRPr lang="en-US" sz="16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3228" y="1343382"/>
            <a:ext cx="67838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перспективы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005" y="2392323"/>
            <a:ext cx="2994184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7183" y="5669994"/>
            <a:ext cx="31917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Негативный сценарий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6041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Требуются меры по оптимизации и доходам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108" y="2392323"/>
            <a:ext cx="2994184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669994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Положительный и нейтральный сценарии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51474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Самоокупаемость к 6-му месяцу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211" y="2392323"/>
            <a:ext cx="2994184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669994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Инвестиционная привлекательность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51474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Гибкая стратегия и потенциал роста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422</Words>
  <Application>Microsoft Office PowerPoint</Application>
  <PresentationFormat>Произвольный</PresentationFormat>
  <Paragraphs>116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Inter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vasil</cp:lastModifiedBy>
  <cp:revision>2</cp:revision>
  <dcterms:created xsi:type="dcterms:W3CDTF">2025-05-12T19:44:55Z</dcterms:created>
  <dcterms:modified xsi:type="dcterms:W3CDTF">2025-05-12T19:47:39Z</dcterms:modified>
</cp:coreProperties>
</file>