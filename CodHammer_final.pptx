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199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CodHammer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6892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Наша цель — значительно повысить вовлеченность студентов через систему ставок на IT-соревнования и создание цифрового портфолио.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129689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F00994"/>
          </a:solidFill>
          <a:ln w="7620">
            <a:solidFill>
              <a:srgbClr val="4D4D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85084" y="5262324"/>
            <a:ext cx="153114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МВ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756440" y="5112782"/>
            <a:ext cx="3310295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 Мария Васильченко</a:t>
            </a:r>
            <a:endParaRPr lang="en-US" sz="2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42336"/>
            <a:ext cx="667381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Платформа для IT-студентов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2364462"/>
            <a:ext cx="4579263" cy="2410897"/>
          </a:xfrm>
          <a:prstGeom prst="roundRect">
            <a:avLst>
              <a:gd name="adj" fmla="val 3952"/>
            </a:avLst>
          </a:prstGeom>
          <a:solidFill>
            <a:srgbClr val="CDFBE4"/>
          </a:solidFill>
          <a:ln w="7620">
            <a:solidFill>
              <a:srgbClr val="B3E1C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5988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Геймификация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089315"/>
            <a:ext cx="41103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ставок на IT-соревнования и технические события для повышения интереса студентов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599867" y="2364462"/>
            <a:ext cx="4579263" cy="2410897"/>
          </a:xfrm>
          <a:prstGeom prst="roundRect">
            <a:avLst>
              <a:gd name="adj" fmla="val 3952"/>
            </a:avLst>
          </a:prstGeom>
          <a:solidFill>
            <a:srgbClr val="CDFBE4"/>
          </a:solidFill>
          <a:ln w="7620">
            <a:solidFill>
              <a:srgbClr val="B3E1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34301" y="25988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Аналитика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834301" y="3089315"/>
            <a:ext cx="41103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Инструменты для анализа активности студентов и эффективности образовательных мероприятий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002173"/>
            <a:ext cx="9385221" cy="1685092"/>
          </a:xfrm>
          <a:prstGeom prst="roundRect">
            <a:avLst>
              <a:gd name="adj" fmla="val 5654"/>
            </a:avLst>
          </a:prstGeom>
          <a:solidFill>
            <a:srgbClr val="CDFBE4"/>
          </a:solidFill>
          <a:ln w="7620">
            <a:solidFill>
              <a:srgbClr val="B3E1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236607"/>
            <a:ext cx="31186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Цифровое портфолио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727025"/>
            <a:ext cx="89163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Возможность для студентов демонстрировать свои навыки и достижения потенциальным работодателям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20803" y="994767"/>
            <a:ext cx="93158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Проблемы, которые мы решаем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5717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Современная система технического образования сталкивается с рядом серьезных вызовов, затрагивающих всех участников образовательного процесса. Наша платформа предлагает комплексное решение этих проблем.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138130"/>
            <a:ext cx="680442" cy="6804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0453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Студенты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53580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 не видят ценности в участии в мероприятиях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34090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Низкая активность на образовательных событиях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14600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Отсутствие возможности продемонстрировать навыки работодателям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3138130"/>
            <a:ext cx="680442" cy="6804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35893" y="40453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Университеты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235893" y="453580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Отсутствие инструментов для анализа активности студентов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5235893" y="534090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Слепые точки в управлении образовательным процессом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5235893" y="614600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Расходы до 100 тыс. руб./месяц на мероприятия без обратной связи</a:t>
            </a:r>
            <a:endParaRPr lang="en-US" sz="17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3138130"/>
            <a:ext cx="680442" cy="6804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77995" y="40453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IT-компании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9677995" y="453580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охватывают целевую аудиторию (студенты)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9677995" y="534090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Упускают талантливых специалистов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9677995" y="614600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Сложности в оценке реальных навыков выпускников</a:t>
            </a:r>
            <a:endParaRPr lang="en-US" sz="17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90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УТП 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005" y="1847969"/>
            <a:ext cx="2994184" cy="2994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5420" y="51256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CodPoints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616059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баллы за активность, которые конвертируются в зачёты, влияют на карьерный рейтинг и дают доступ к эксклюзивным мероприятиям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108" y="1847969"/>
            <a:ext cx="2994184" cy="2994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97523" y="51256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Ставки на события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616059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Уникальная система ставок на технические события: битвы роботов, хакатоны и другие соревнования, повышающая вовлечение студентов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211" y="1847969"/>
            <a:ext cx="2994184" cy="29941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46281" y="5125641"/>
            <a:ext cx="30219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Аналитика для вузов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616059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Годовая подписка стоимостью 300–500 тыс. руб./вуз, предоставляющая инструменты для динамической оценки активности студентов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707231"/>
            <a:ext cx="89871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Анализ рынка (TAM/SAM/SOM)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1869519"/>
            <a:ext cx="635127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млн</a:t>
            </a:r>
            <a:endParaRPr lang="en-US" sz="5850" dirty="0"/>
          </a:p>
        </p:txBody>
      </p:sp>
      <p:sp>
        <p:nvSpPr>
          <p:cNvPr id="6" name="Text 3"/>
          <p:cNvSpPr/>
          <p:nvPr/>
        </p:nvSpPr>
        <p:spPr>
          <a:xfrm>
            <a:off x="2551748" y="29013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3391733"/>
            <a:ext cx="63512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Общее количество студентов в России, потенциально заинтересованных в образовательных технологиях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485221" y="1869519"/>
            <a:ext cx="63513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1,2 млн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9243298" y="29013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85221" y="3391733"/>
            <a:ext cx="63513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Количество студентов IT-специальностей, являющихся нашей целевой аудиторией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93790" y="4911328"/>
            <a:ext cx="635127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200 тыс.</a:t>
            </a:r>
            <a:endParaRPr lang="en-US" sz="5850" dirty="0"/>
          </a:p>
        </p:txBody>
      </p:sp>
      <p:sp>
        <p:nvSpPr>
          <p:cNvPr id="12" name="Text 9"/>
          <p:cNvSpPr/>
          <p:nvPr/>
        </p:nvSpPr>
        <p:spPr>
          <a:xfrm>
            <a:off x="2551748" y="59431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SOM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93790" y="6433542"/>
            <a:ext cx="63512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Планируемое количество пользователей за первый год работы, подтвержденное результатами MVP-теста в МИРЭА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485221" y="4911328"/>
            <a:ext cx="63513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22%</a:t>
            </a:r>
            <a:endParaRPr lang="en-US" sz="5850" dirty="0"/>
          </a:p>
        </p:txBody>
      </p:sp>
      <p:sp>
        <p:nvSpPr>
          <p:cNvPr id="15" name="Text 12"/>
          <p:cNvSpPr/>
          <p:nvPr/>
        </p:nvSpPr>
        <p:spPr>
          <a:xfrm>
            <a:off x="9243298" y="59431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Рост рынка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485221" y="6433542"/>
            <a:ext cx="63513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Ежегодный рост рынка EdTech в России, создающий благоприятные условия для развития CodHammer</a:t>
            </a:r>
            <a:endParaRPr lang="en-US" sz="17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37461"/>
            <a:ext cx="7556421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Бизнес-модель и выгоды для партнёров</a:t>
            </a:r>
            <a:endParaRPr lang="en-US" sz="3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1955840"/>
            <a:ext cx="510302" cy="5103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263616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Подписка вузов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6280190" y="3003947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Стоимость: 300–500 тыс. руб./вуз/год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280190" y="3335655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Выгода: аналитика активности и 30% рост участия в мероприятиях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947993"/>
            <a:ext cx="510302" cy="51030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80190" y="4628317"/>
            <a:ext cx="234672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Реклама IT-компаний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6280190" y="4996101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Стоимость: 50–150 тыс. руб./мес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280190" y="5327809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Выгода: доступ к целевой аудитории талантливых студентов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940147"/>
            <a:ext cx="510302" cy="51030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80190" y="6620470"/>
            <a:ext cx="236303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Ставки и Merch Points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6280190" y="6988254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Продажа Merch Points: 150 тыс. руб./мес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280190" y="7319963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Выгода для студентов: мотивация и возможность получения призов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730687"/>
            <a:ext cx="8665369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Финансовый план на 6 месяцев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793790" y="1727240"/>
            <a:ext cx="13042821" cy="4344114"/>
          </a:xfrm>
          <a:prstGeom prst="roundRect">
            <a:avLst>
              <a:gd name="adj" fmla="val 208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1410" y="1734860"/>
            <a:ext cx="13027581" cy="6184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17032" y="1871663"/>
            <a:ext cx="282225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Месяц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277678" y="1871663"/>
            <a:ext cx="281844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Доходы, руб.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34513" y="1871663"/>
            <a:ext cx="281844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Расходы, руб.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791349" y="1871663"/>
            <a:ext cx="282225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Чистая прибыль, руб.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801410" y="2353270"/>
            <a:ext cx="13027581" cy="61841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17032" y="2490073"/>
            <a:ext cx="282225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4277678" y="2490073"/>
            <a:ext cx="281844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50 000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534513" y="2490073"/>
            <a:ext cx="281844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341 000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0791349" y="2490073"/>
            <a:ext cx="282225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-291 000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801410" y="2971681"/>
            <a:ext cx="13027581" cy="6184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017032" y="3108484"/>
            <a:ext cx="282225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4277678" y="3108484"/>
            <a:ext cx="281844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100 000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534513" y="3108484"/>
            <a:ext cx="281844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341 000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0791349" y="3108484"/>
            <a:ext cx="282225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-241 000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801410" y="3590092"/>
            <a:ext cx="13027581" cy="61841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017032" y="3726894"/>
            <a:ext cx="282225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4277678" y="3726894"/>
            <a:ext cx="281844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250 000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7534513" y="3726894"/>
            <a:ext cx="281844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641 000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0791349" y="3726894"/>
            <a:ext cx="282225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-391 000</a:t>
            </a:r>
            <a:endParaRPr lang="en-US" sz="1650" dirty="0"/>
          </a:p>
        </p:txBody>
      </p:sp>
      <p:sp>
        <p:nvSpPr>
          <p:cNvPr id="26" name="Shape 23"/>
          <p:cNvSpPr/>
          <p:nvPr/>
        </p:nvSpPr>
        <p:spPr>
          <a:xfrm>
            <a:off x="801410" y="4208502"/>
            <a:ext cx="13027581" cy="6184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017032" y="4345305"/>
            <a:ext cx="282225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4277678" y="4345305"/>
            <a:ext cx="281844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400 000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7534513" y="4345305"/>
            <a:ext cx="281844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341 000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10791349" y="4345305"/>
            <a:ext cx="282225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+59 000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801410" y="4826913"/>
            <a:ext cx="13027581" cy="61841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1017032" y="4963716"/>
            <a:ext cx="282225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50" dirty="0"/>
          </a:p>
        </p:txBody>
      </p:sp>
      <p:sp>
        <p:nvSpPr>
          <p:cNvPr id="33" name="Text 30"/>
          <p:cNvSpPr/>
          <p:nvPr/>
        </p:nvSpPr>
        <p:spPr>
          <a:xfrm>
            <a:off x="4277678" y="4963716"/>
            <a:ext cx="281844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600 000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7534513" y="4963716"/>
            <a:ext cx="281844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641 000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10791349" y="4963716"/>
            <a:ext cx="282225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-41 000</a:t>
            </a:r>
            <a:endParaRPr lang="en-US" sz="1650" dirty="0"/>
          </a:p>
        </p:txBody>
      </p:sp>
      <p:sp>
        <p:nvSpPr>
          <p:cNvPr id="36" name="Shape 33"/>
          <p:cNvSpPr/>
          <p:nvPr/>
        </p:nvSpPr>
        <p:spPr>
          <a:xfrm>
            <a:off x="801410" y="5445323"/>
            <a:ext cx="13027581" cy="6184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1017032" y="5582126"/>
            <a:ext cx="282225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50" dirty="0"/>
          </a:p>
        </p:txBody>
      </p:sp>
      <p:sp>
        <p:nvSpPr>
          <p:cNvPr id="38" name="Text 35"/>
          <p:cNvSpPr/>
          <p:nvPr/>
        </p:nvSpPr>
        <p:spPr>
          <a:xfrm>
            <a:off x="4277678" y="5582126"/>
            <a:ext cx="281844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700 000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7534513" y="5582126"/>
            <a:ext cx="281844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341 000</a:t>
            </a:r>
            <a:endParaRPr lang="en-US" sz="1650" dirty="0"/>
          </a:p>
        </p:txBody>
      </p:sp>
      <p:sp>
        <p:nvSpPr>
          <p:cNvPr id="40" name="Text 37"/>
          <p:cNvSpPr/>
          <p:nvPr/>
        </p:nvSpPr>
        <p:spPr>
          <a:xfrm>
            <a:off x="10791349" y="5582126"/>
            <a:ext cx="282225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+359 000</a:t>
            </a:r>
            <a:endParaRPr lang="en-US" sz="1650" dirty="0"/>
          </a:p>
        </p:txBody>
      </p:sp>
      <p:sp>
        <p:nvSpPr>
          <p:cNvPr id="41" name="Text 38"/>
          <p:cNvSpPr/>
          <p:nvPr/>
        </p:nvSpPr>
        <p:spPr>
          <a:xfrm>
            <a:off x="793790" y="6313765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Точка безубыточности 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Месяц 4 → </a:t>
            </a:r>
            <a:pPr algn="l"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+59 тыс. руб./мес 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42" name="Text 39"/>
          <p:cNvSpPr/>
          <p:nvPr/>
        </p:nvSpPr>
        <p:spPr>
          <a:xfrm>
            <a:off x="793790" y="6733937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 инвесторов 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120% за 2 года (инвестиции </a:t>
            </a:r>
            <a:pPr algn="l"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 млн руб. 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</a:t>
            </a:r>
            <a:pPr algn="l"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млн руб. прибыли 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1650" dirty="0"/>
          </a:p>
        </p:txBody>
      </p:sp>
      <p:sp>
        <p:nvSpPr>
          <p:cNvPr id="43" name="Text 40"/>
          <p:cNvSpPr/>
          <p:nvPr/>
        </p:nvSpPr>
        <p:spPr>
          <a:xfrm>
            <a:off x="793790" y="7154108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Ключевые метрики 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CAC = 150 руб., LTV = 600 руб.</a:t>
            </a:r>
            <a:endParaRPr lang="en-US" sz="1650" dirty="0"/>
          </a:p>
        </p:txBody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737717"/>
            <a:ext cx="84803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Конкуренты и преимущества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2786658"/>
            <a:ext cx="13042821" cy="3705225"/>
          </a:xfrm>
          <a:prstGeom prst="roundRect">
            <a:avLst>
              <a:gd name="adj" fmla="val 257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1410" y="279427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28224" y="293798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Конкуренты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45824" y="293798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Сравнение с CodHammer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801410" y="3444597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28224" y="358830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DiaClass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45824" y="3588306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Ориентирован на школьников, в то время как CodHammer фокусируется на IT-студентах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01410" y="4457819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028224" y="460152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Bet365/1xBet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545824" y="4601528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охватывают студенческую аудиторию, CodHammer заполняет эту нишу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801410" y="5471041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028224" y="561474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1С:Университет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7545824" y="5614749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Отсутствие геймификации и системы ставок, которые являются ключевыми функциями CodHammer</a:t>
            </a:r>
            <a:endParaRPr lang="en-US" sz="17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549003"/>
            <a:ext cx="89583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План сотрудничества с вузами</a:t>
            </a:r>
            <a:endParaRPr lang="en-US" sz="4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597944"/>
            <a:ext cx="1134070" cy="13608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68022" y="2824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Интеграция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268022" y="3315176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CodHammer дает доступ к данным активности студентов</a:t>
            </a:r>
            <a:endParaRPr lang="en-US" sz="1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958828"/>
            <a:ext cx="1134070" cy="13608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268022" y="4185642"/>
            <a:ext cx="30370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Спонсорские пакеты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2268022" y="4676061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Базовый: 100 тыс. руб./мероприятие, Премиум: 300 тыс. руб./год</a:t>
            </a:r>
            <a:endParaRPr lang="en-US" sz="1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19713"/>
            <a:ext cx="1134070" cy="13608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268022" y="5546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Продвижение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2268022" y="6036945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Совместные посты в соцсетях</a:t>
            </a:r>
            <a:endParaRPr lang="en-US" sz="17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0918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Команда и опыт</a:t>
            </a:r>
            <a:endParaRPr lang="en-US" sz="4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785223"/>
            <a:ext cx="2905720" cy="17958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850362"/>
            <a:ext cx="275082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Мария Васильченко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93790" y="4316135"/>
            <a:ext cx="3058716" cy="3103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UX/UI дизайнер сразу представляет не только макет, но и как будет реализован проект на стороне frontend разработки. Берет на воружение вдохновение и технологии для быстрой разработки. </a:t>
            </a:r>
            <a:endParaRPr lang="en-US" sz="1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825" y="1785223"/>
            <a:ext cx="2905720" cy="17958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1825" y="385036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Дмитрий Енин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4121825" y="4316135"/>
            <a:ext cx="3058716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Manager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Имеет колкий язык и острый ум. Несмотря на спонтаность в работе, умеет вовремя сориентироваться и преподнести выиграшную стратегию для проекта. 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860" y="1785223"/>
            <a:ext cx="2905720" cy="17958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49860" y="385036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Денис Шипунов 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7449860" y="4316135"/>
            <a:ext cx="305871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Backend-разработчик 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7449860" y="4790123"/>
            <a:ext cx="3058716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Терпеливый, имеет собственный вывериный граффик работы. Держит свое слово и знает когда стоит остановиться. Не всегда в сети, но все время трезво оценивает возможности.</a:t>
            </a:r>
            <a:endParaRPr lang="en-US" sz="16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7895" y="1785223"/>
            <a:ext cx="2905720" cy="17958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77895" y="385036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Евгений Зыбин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10777895" y="4316135"/>
            <a:ext cx="3058716" cy="3103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DevOps-инженер, давно общается с Енином и понимает его от головы до пят. Содержит навок быстро ждостучаться до опонента и четко сформулировать тезе. Результатом становиться ускорение процесса работы. </a:t>
            </a:r>
            <a:endParaRPr lang="en-US" sz="16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2025-05-26T10:05:13Z</dcterms:created>
  <dcterms:modified xsi:type="dcterms:W3CDTF">2025-05-26T10:05:13Z</dcterms:modified>
</cp:coreProperties>
</file>